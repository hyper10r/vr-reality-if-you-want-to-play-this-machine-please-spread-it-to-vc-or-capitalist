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62" r:id="rId6"/>
    <p:sldId id="257" r:id="rId7"/>
    <p:sldId id="272" r:id="rId8"/>
    <p:sldId id="263" r:id="rId9"/>
    <p:sldId id="264" r:id="rId10"/>
    <p:sldId id="265" r:id="rId11"/>
    <p:sldId id="266" r:id="rId12"/>
    <p:sldId id="271" r:id="rId13"/>
    <p:sldId id="267" r:id="rId14"/>
    <p:sldId id="268" r:id="rId15"/>
    <p:sldId id="269" r:id="rId16"/>
    <p:sldId id="270" r:id="rId17"/>
    <p:sldId id="273" r:id="rId18"/>
    <p:sldId id="274" r:id="rId19"/>
    <p:sldId id="275" r:id="rId20"/>
    <p:sldId id="277"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9" d="100"/>
          <a:sy n="109" d="100"/>
        </p:scale>
        <p:origin x="108"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1AD052-DD02-4F0C-A58C-6731DCC51E7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FF1635D0-E37D-43B9-9CC6-ABF2D6B5C3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50C05800-D6F5-4D6A-B49D-62A4F70C95D4}"/>
              </a:ext>
            </a:extLst>
          </p:cNvPr>
          <p:cNvSpPr>
            <a:spLocks noGrp="1"/>
          </p:cNvSpPr>
          <p:nvPr>
            <p:ph type="dt" sz="half" idx="10"/>
          </p:nvPr>
        </p:nvSpPr>
        <p:spPr/>
        <p:txBody>
          <a:bodyPr/>
          <a:lstStyle/>
          <a:p>
            <a:fld id="{3AA19915-6687-4957-992D-94108D8321D5}" type="datetimeFigureOut">
              <a:rPr lang="en-US" smtClean="0"/>
              <a:t>7/10/2025</a:t>
            </a:fld>
            <a:endParaRPr lang="en-US"/>
          </a:p>
        </p:txBody>
      </p:sp>
      <p:sp>
        <p:nvSpPr>
          <p:cNvPr id="5" name="页脚占位符 4">
            <a:extLst>
              <a:ext uri="{FF2B5EF4-FFF2-40B4-BE49-F238E27FC236}">
                <a16:creationId xmlns:a16="http://schemas.microsoft.com/office/drawing/2014/main" id="{9DCF00DA-5766-49B7-B0E5-BE22EF6EE5D8}"/>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35F99077-6BA0-409D-94CB-2AF3E08916F8}"/>
              </a:ext>
            </a:extLst>
          </p:cNvPr>
          <p:cNvSpPr>
            <a:spLocks noGrp="1"/>
          </p:cNvSpPr>
          <p:nvPr>
            <p:ph type="sldNum" sz="quarter" idx="12"/>
          </p:nvPr>
        </p:nvSpPr>
        <p:spPr/>
        <p:txBody>
          <a:bodyPr/>
          <a:lstStyle/>
          <a:p>
            <a:fld id="{8065204C-E760-43A8-9351-B0F016BF42DD}" type="slidenum">
              <a:rPr lang="en-US" smtClean="0"/>
              <a:t>‹#›</a:t>
            </a:fld>
            <a:endParaRPr lang="en-US"/>
          </a:p>
        </p:txBody>
      </p:sp>
    </p:spTree>
    <p:extLst>
      <p:ext uri="{BB962C8B-B14F-4D97-AF65-F5344CB8AC3E}">
        <p14:creationId xmlns:p14="http://schemas.microsoft.com/office/powerpoint/2010/main" val="486089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051665-5ED9-4309-B82A-333BA485A31D}"/>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EA77966A-C64A-4F24-9129-D3A475E262B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9C662AEC-3684-484B-8CA5-2BA407B65BB5}"/>
              </a:ext>
            </a:extLst>
          </p:cNvPr>
          <p:cNvSpPr>
            <a:spLocks noGrp="1"/>
          </p:cNvSpPr>
          <p:nvPr>
            <p:ph type="dt" sz="half" idx="10"/>
          </p:nvPr>
        </p:nvSpPr>
        <p:spPr/>
        <p:txBody>
          <a:bodyPr/>
          <a:lstStyle/>
          <a:p>
            <a:fld id="{3AA19915-6687-4957-992D-94108D8321D5}" type="datetimeFigureOut">
              <a:rPr lang="en-US" smtClean="0"/>
              <a:t>7/10/2025</a:t>
            </a:fld>
            <a:endParaRPr lang="en-US"/>
          </a:p>
        </p:txBody>
      </p:sp>
      <p:sp>
        <p:nvSpPr>
          <p:cNvPr id="5" name="页脚占位符 4">
            <a:extLst>
              <a:ext uri="{FF2B5EF4-FFF2-40B4-BE49-F238E27FC236}">
                <a16:creationId xmlns:a16="http://schemas.microsoft.com/office/drawing/2014/main" id="{FF578427-6B70-46A5-A9AD-75AE4E8919F2}"/>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C0BBB8F9-9AD0-4405-BA4A-46235CFB0C13}"/>
              </a:ext>
            </a:extLst>
          </p:cNvPr>
          <p:cNvSpPr>
            <a:spLocks noGrp="1"/>
          </p:cNvSpPr>
          <p:nvPr>
            <p:ph type="sldNum" sz="quarter" idx="12"/>
          </p:nvPr>
        </p:nvSpPr>
        <p:spPr/>
        <p:txBody>
          <a:bodyPr/>
          <a:lstStyle/>
          <a:p>
            <a:fld id="{8065204C-E760-43A8-9351-B0F016BF42DD}" type="slidenum">
              <a:rPr lang="en-US" smtClean="0"/>
              <a:t>‹#›</a:t>
            </a:fld>
            <a:endParaRPr lang="en-US"/>
          </a:p>
        </p:txBody>
      </p:sp>
    </p:spTree>
    <p:extLst>
      <p:ext uri="{BB962C8B-B14F-4D97-AF65-F5344CB8AC3E}">
        <p14:creationId xmlns:p14="http://schemas.microsoft.com/office/powerpoint/2010/main" val="2016611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1BDB0F-0CE8-4FF6-9FA7-AFB61E20905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ED5D121D-915A-40C5-B426-B6E691BA82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F8F667D-203D-404D-B38F-CFD6E730346C}"/>
              </a:ext>
            </a:extLst>
          </p:cNvPr>
          <p:cNvSpPr>
            <a:spLocks noGrp="1"/>
          </p:cNvSpPr>
          <p:nvPr>
            <p:ph type="dt" sz="half" idx="10"/>
          </p:nvPr>
        </p:nvSpPr>
        <p:spPr/>
        <p:txBody>
          <a:bodyPr/>
          <a:lstStyle/>
          <a:p>
            <a:fld id="{3AA19915-6687-4957-992D-94108D8321D5}" type="datetimeFigureOut">
              <a:rPr lang="en-US" smtClean="0"/>
              <a:t>7/10/2025</a:t>
            </a:fld>
            <a:endParaRPr lang="en-US"/>
          </a:p>
        </p:txBody>
      </p:sp>
      <p:sp>
        <p:nvSpPr>
          <p:cNvPr id="5" name="页脚占位符 4">
            <a:extLst>
              <a:ext uri="{FF2B5EF4-FFF2-40B4-BE49-F238E27FC236}">
                <a16:creationId xmlns:a16="http://schemas.microsoft.com/office/drawing/2014/main" id="{E3C1DEA2-670A-4CDB-9501-8D43DE082385}"/>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FA9BD0A6-AC43-4DC6-86C0-910C27B4D67C}"/>
              </a:ext>
            </a:extLst>
          </p:cNvPr>
          <p:cNvSpPr>
            <a:spLocks noGrp="1"/>
          </p:cNvSpPr>
          <p:nvPr>
            <p:ph type="sldNum" sz="quarter" idx="12"/>
          </p:nvPr>
        </p:nvSpPr>
        <p:spPr/>
        <p:txBody>
          <a:bodyPr/>
          <a:lstStyle/>
          <a:p>
            <a:fld id="{8065204C-E760-43A8-9351-B0F016BF42DD}" type="slidenum">
              <a:rPr lang="en-US" smtClean="0"/>
              <a:t>‹#›</a:t>
            </a:fld>
            <a:endParaRPr lang="en-US"/>
          </a:p>
        </p:txBody>
      </p:sp>
    </p:spTree>
    <p:extLst>
      <p:ext uri="{BB962C8B-B14F-4D97-AF65-F5344CB8AC3E}">
        <p14:creationId xmlns:p14="http://schemas.microsoft.com/office/powerpoint/2010/main" val="1244533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320C81-D886-49FD-BE7A-432727321C78}"/>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6DE09B3D-2858-4D03-963E-E9ACE2A5FB2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a:extLst>
              <a:ext uri="{FF2B5EF4-FFF2-40B4-BE49-F238E27FC236}">
                <a16:creationId xmlns:a16="http://schemas.microsoft.com/office/drawing/2014/main" id="{9E04772D-A7D5-4E14-9A96-A2AFA41C9BC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8A1FA750-D8CF-482F-9FB4-F45DF1226FBC}"/>
              </a:ext>
            </a:extLst>
          </p:cNvPr>
          <p:cNvSpPr>
            <a:spLocks noGrp="1"/>
          </p:cNvSpPr>
          <p:nvPr>
            <p:ph type="dt" sz="half" idx="10"/>
          </p:nvPr>
        </p:nvSpPr>
        <p:spPr/>
        <p:txBody>
          <a:bodyPr/>
          <a:lstStyle/>
          <a:p>
            <a:fld id="{3AA19915-6687-4957-992D-94108D8321D5}" type="datetimeFigureOut">
              <a:rPr lang="en-US" smtClean="0"/>
              <a:t>7/10/2025</a:t>
            </a:fld>
            <a:endParaRPr lang="en-US"/>
          </a:p>
        </p:txBody>
      </p:sp>
      <p:sp>
        <p:nvSpPr>
          <p:cNvPr id="6" name="页脚占位符 5">
            <a:extLst>
              <a:ext uri="{FF2B5EF4-FFF2-40B4-BE49-F238E27FC236}">
                <a16:creationId xmlns:a16="http://schemas.microsoft.com/office/drawing/2014/main" id="{0D3FB88C-F3CF-4603-944D-745F3E42BBD5}"/>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D4D78069-4C9E-4EDC-8895-6C75F1B66947}"/>
              </a:ext>
            </a:extLst>
          </p:cNvPr>
          <p:cNvSpPr>
            <a:spLocks noGrp="1"/>
          </p:cNvSpPr>
          <p:nvPr>
            <p:ph type="sldNum" sz="quarter" idx="12"/>
          </p:nvPr>
        </p:nvSpPr>
        <p:spPr/>
        <p:txBody>
          <a:bodyPr/>
          <a:lstStyle/>
          <a:p>
            <a:fld id="{8065204C-E760-43A8-9351-B0F016BF42DD}" type="slidenum">
              <a:rPr lang="en-US" smtClean="0"/>
              <a:t>‹#›</a:t>
            </a:fld>
            <a:endParaRPr lang="en-US"/>
          </a:p>
        </p:txBody>
      </p:sp>
    </p:spTree>
    <p:extLst>
      <p:ext uri="{BB962C8B-B14F-4D97-AF65-F5344CB8AC3E}">
        <p14:creationId xmlns:p14="http://schemas.microsoft.com/office/powerpoint/2010/main" val="2037459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43D173-2D2D-4B51-B2DC-4AE358063E0E}"/>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BCE511DB-118D-4981-8CD7-E8C0C7EFB6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FD15C4F-1A73-48D1-8AF8-54B1F53A07B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a:extLst>
              <a:ext uri="{FF2B5EF4-FFF2-40B4-BE49-F238E27FC236}">
                <a16:creationId xmlns:a16="http://schemas.microsoft.com/office/drawing/2014/main" id="{978B1540-6DA9-408F-BE4A-1DDF8CD0A6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B80C763-3052-4525-AE3E-76CCEC3CEBA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a:extLst>
              <a:ext uri="{FF2B5EF4-FFF2-40B4-BE49-F238E27FC236}">
                <a16:creationId xmlns:a16="http://schemas.microsoft.com/office/drawing/2014/main" id="{4535374D-A0B1-4201-9C28-D97195490E98}"/>
              </a:ext>
            </a:extLst>
          </p:cNvPr>
          <p:cNvSpPr>
            <a:spLocks noGrp="1"/>
          </p:cNvSpPr>
          <p:nvPr>
            <p:ph type="dt" sz="half" idx="10"/>
          </p:nvPr>
        </p:nvSpPr>
        <p:spPr/>
        <p:txBody>
          <a:bodyPr/>
          <a:lstStyle/>
          <a:p>
            <a:fld id="{3AA19915-6687-4957-992D-94108D8321D5}" type="datetimeFigureOut">
              <a:rPr lang="en-US" smtClean="0"/>
              <a:t>7/10/2025</a:t>
            </a:fld>
            <a:endParaRPr lang="en-US"/>
          </a:p>
        </p:txBody>
      </p:sp>
      <p:sp>
        <p:nvSpPr>
          <p:cNvPr id="8" name="页脚占位符 7">
            <a:extLst>
              <a:ext uri="{FF2B5EF4-FFF2-40B4-BE49-F238E27FC236}">
                <a16:creationId xmlns:a16="http://schemas.microsoft.com/office/drawing/2014/main" id="{186D9B38-3B72-4368-8BB4-3ECC30ED0202}"/>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E74CF3B8-76D0-4A41-BCFC-FC941F3D6898}"/>
              </a:ext>
            </a:extLst>
          </p:cNvPr>
          <p:cNvSpPr>
            <a:spLocks noGrp="1"/>
          </p:cNvSpPr>
          <p:nvPr>
            <p:ph type="sldNum" sz="quarter" idx="12"/>
          </p:nvPr>
        </p:nvSpPr>
        <p:spPr/>
        <p:txBody>
          <a:bodyPr/>
          <a:lstStyle/>
          <a:p>
            <a:fld id="{8065204C-E760-43A8-9351-B0F016BF42DD}" type="slidenum">
              <a:rPr lang="en-US" smtClean="0"/>
              <a:t>‹#›</a:t>
            </a:fld>
            <a:endParaRPr lang="en-US"/>
          </a:p>
        </p:txBody>
      </p:sp>
    </p:spTree>
    <p:extLst>
      <p:ext uri="{BB962C8B-B14F-4D97-AF65-F5344CB8AC3E}">
        <p14:creationId xmlns:p14="http://schemas.microsoft.com/office/powerpoint/2010/main" val="898671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9714F4-0F88-4C68-B1BA-FA3A3947AC5C}"/>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C3383C85-EE47-4566-B45C-80DE8FF71843}"/>
              </a:ext>
            </a:extLst>
          </p:cNvPr>
          <p:cNvSpPr>
            <a:spLocks noGrp="1"/>
          </p:cNvSpPr>
          <p:nvPr>
            <p:ph type="dt" sz="half" idx="10"/>
          </p:nvPr>
        </p:nvSpPr>
        <p:spPr/>
        <p:txBody>
          <a:bodyPr/>
          <a:lstStyle/>
          <a:p>
            <a:fld id="{3AA19915-6687-4957-992D-94108D8321D5}" type="datetimeFigureOut">
              <a:rPr lang="en-US" smtClean="0"/>
              <a:t>7/10/2025</a:t>
            </a:fld>
            <a:endParaRPr lang="en-US"/>
          </a:p>
        </p:txBody>
      </p:sp>
      <p:sp>
        <p:nvSpPr>
          <p:cNvPr id="4" name="页脚占位符 3">
            <a:extLst>
              <a:ext uri="{FF2B5EF4-FFF2-40B4-BE49-F238E27FC236}">
                <a16:creationId xmlns:a16="http://schemas.microsoft.com/office/drawing/2014/main" id="{6336B0C8-8D14-437D-BCCC-B5BC4CDD399C}"/>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A225FC84-5D0B-4354-8CF7-7C00910A830B}"/>
              </a:ext>
            </a:extLst>
          </p:cNvPr>
          <p:cNvSpPr>
            <a:spLocks noGrp="1"/>
          </p:cNvSpPr>
          <p:nvPr>
            <p:ph type="sldNum" sz="quarter" idx="12"/>
          </p:nvPr>
        </p:nvSpPr>
        <p:spPr/>
        <p:txBody>
          <a:bodyPr/>
          <a:lstStyle/>
          <a:p>
            <a:fld id="{8065204C-E760-43A8-9351-B0F016BF42DD}" type="slidenum">
              <a:rPr lang="en-US" smtClean="0"/>
              <a:t>‹#›</a:t>
            </a:fld>
            <a:endParaRPr lang="en-US"/>
          </a:p>
        </p:txBody>
      </p:sp>
    </p:spTree>
    <p:extLst>
      <p:ext uri="{BB962C8B-B14F-4D97-AF65-F5344CB8AC3E}">
        <p14:creationId xmlns:p14="http://schemas.microsoft.com/office/powerpoint/2010/main" val="1622558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B3CB737-050A-422B-B681-170B2B6466AA}"/>
              </a:ext>
            </a:extLst>
          </p:cNvPr>
          <p:cNvSpPr>
            <a:spLocks noGrp="1"/>
          </p:cNvSpPr>
          <p:nvPr>
            <p:ph type="dt" sz="half" idx="10"/>
          </p:nvPr>
        </p:nvSpPr>
        <p:spPr/>
        <p:txBody>
          <a:bodyPr/>
          <a:lstStyle/>
          <a:p>
            <a:fld id="{3AA19915-6687-4957-992D-94108D8321D5}" type="datetimeFigureOut">
              <a:rPr lang="en-US" smtClean="0"/>
              <a:t>7/10/2025</a:t>
            </a:fld>
            <a:endParaRPr lang="en-US"/>
          </a:p>
        </p:txBody>
      </p:sp>
      <p:sp>
        <p:nvSpPr>
          <p:cNvPr id="3" name="页脚占位符 2">
            <a:extLst>
              <a:ext uri="{FF2B5EF4-FFF2-40B4-BE49-F238E27FC236}">
                <a16:creationId xmlns:a16="http://schemas.microsoft.com/office/drawing/2014/main" id="{F832BAE6-8229-460A-A752-C8475299125A}"/>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61FC7B77-180C-40C2-91F9-CD243D7463F7}"/>
              </a:ext>
            </a:extLst>
          </p:cNvPr>
          <p:cNvSpPr>
            <a:spLocks noGrp="1"/>
          </p:cNvSpPr>
          <p:nvPr>
            <p:ph type="sldNum" sz="quarter" idx="12"/>
          </p:nvPr>
        </p:nvSpPr>
        <p:spPr/>
        <p:txBody>
          <a:bodyPr/>
          <a:lstStyle/>
          <a:p>
            <a:fld id="{8065204C-E760-43A8-9351-B0F016BF42DD}" type="slidenum">
              <a:rPr lang="en-US" smtClean="0"/>
              <a:t>‹#›</a:t>
            </a:fld>
            <a:endParaRPr lang="en-US"/>
          </a:p>
        </p:txBody>
      </p:sp>
    </p:spTree>
    <p:extLst>
      <p:ext uri="{BB962C8B-B14F-4D97-AF65-F5344CB8AC3E}">
        <p14:creationId xmlns:p14="http://schemas.microsoft.com/office/powerpoint/2010/main" val="1493651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65A398-88B2-413B-BBE3-41B0A1883F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AC794840-7BEF-4FED-806C-E522EE7000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a:extLst>
              <a:ext uri="{FF2B5EF4-FFF2-40B4-BE49-F238E27FC236}">
                <a16:creationId xmlns:a16="http://schemas.microsoft.com/office/drawing/2014/main" id="{5F9F7341-0CA1-49AD-A8A0-D35A253FA2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737CD1E-A870-4753-8D6E-A03FF8B80EE3}"/>
              </a:ext>
            </a:extLst>
          </p:cNvPr>
          <p:cNvSpPr>
            <a:spLocks noGrp="1"/>
          </p:cNvSpPr>
          <p:nvPr>
            <p:ph type="dt" sz="half" idx="10"/>
          </p:nvPr>
        </p:nvSpPr>
        <p:spPr/>
        <p:txBody>
          <a:bodyPr/>
          <a:lstStyle/>
          <a:p>
            <a:fld id="{3AA19915-6687-4957-992D-94108D8321D5}" type="datetimeFigureOut">
              <a:rPr lang="en-US" smtClean="0"/>
              <a:t>7/10/2025</a:t>
            </a:fld>
            <a:endParaRPr lang="en-US"/>
          </a:p>
        </p:txBody>
      </p:sp>
      <p:sp>
        <p:nvSpPr>
          <p:cNvPr id="6" name="页脚占位符 5">
            <a:extLst>
              <a:ext uri="{FF2B5EF4-FFF2-40B4-BE49-F238E27FC236}">
                <a16:creationId xmlns:a16="http://schemas.microsoft.com/office/drawing/2014/main" id="{9E2F079F-CE3D-472D-8EFA-95DE175D9F95}"/>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4371AC43-0D00-4256-A84B-F4071C5B6735}"/>
              </a:ext>
            </a:extLst>
          </p:cNvPr>
          <p:cNvSpPr>
            <a:spLocks noGrp="1"/>
          </p:cNvSpPr>
          <p:nvPr>
            <p:ph type="sldNum" sz="quarter" idx="12"/>
          </p:nvPr>
        </p:nvSpPr>
        <p:spPr/>
        <p:txBody>
          <a:bodyPr/>
          <a:lstStyle/>
          <a:p>
            <a:fld id="{8065204C-E760-43A8-9351-B0F016BF42DD}" type="slidenum">
              <a:rPr lang="en-US" smtClean="0"/>
              <a:t>‹#›</a:t>
            </a:fld>
            <a:endParaRPr lang="en-US"/>
          </a:p>
        </p:txBody>
      </p:sp>
    </p:spTree>
    <p:extLst>
      <p:ext uri="{BB962C8B-B14F-4D97-AF65-F5344CB8AC3E}">
        <p14:creationId xmlns:p14="http://schemas.microsoft.com/office/powerpoint/2010/main" val="1520353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570F68-91B9-49A3-9CB3-B3930782BA1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481A36CB-D9D0-49C2-BA05-79347EC640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41A9982D-E4E0-4A37-A79E-CF94DDE443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391A2E3-FCE4-4DCC-9101-493ED7013FF6}"/>
              </a:ext>
            </a:extLst>
          </p:cNvPr>
          <p:cNvSpPr>
            <a:spLocks noGrp="1"/>
          </p:cNvSpPr>
          <p:nvPr>
            <p:ph type="dt" sz="half" idx="10"/>
          </p:nvPr>
        </p:nvSpPr>
        <p:spPr/>
        <p:txBody>
          <a:bodyPr/>
          <a:lstStyle/>
          <a:p>
            <a:fld id="{3AA19915-6687-4957-992D-94108D8321D5}" type="datetimeFigureOut">
              <a:rPr lang="en-US" smtClean="0"/>
              <a:t>7/10/2025</a:t>
            </a:fld>
            <a:endParaRPr lang="en-US"/>
          </a:p>
        </p:txBody>
      </p:sp>
      <p:sp>
        <p:nvSpPr>
          <p:cNvPr id="6" name="页脚占位符 5">
            <a:extLst>
              <a:ext uri="{FF2B5EF4-FFF2-40B4-BE49-F238E27FC236}">
                <a16:creationId xmlns:a16="http://schemas.microsoft.com/office/drawing/2014/main" id="{58CBDDD7-2E8C-4ADC-83A6-6210B0AC9B5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328B0669-3461-4087-A6D0-4E26747D98C9}"/>
              </a:ext>
            </a:extLst>
          </p:cNvPr>
          <p:cNvSpPr>
            <a:spLocks noGrp="1"/>
          </p:cNvSpPr>
          <p:nvPr>
            <p:ph type="sldNum" sz="quarter" idx="12"/>
          </p:nvPr>
        </p:nvSpPr>
        <p:spPr/>
        <p:txBody>
          <a:bodyPr/>
          <a:lstStyle/>
          <a:p>
            <a:fld id="{8065204C-E760-43A8-9351-B0F016BF42DD}" type="slidenum">
              <a:rPr lang="en-US" smtClean="0"/>
              <a:t>‹#›</a:t>
            </a:fld>
            <a:endParaRPr lang="en-US"/>
          </a:p>
        </p:txBody>
      </p:sp>
    </p:spTree>
    <p:extLst>
      <p:ext uri="{BB962C8B-B14F-4D97-AF65-F5344CB8AC3E}">
        <p14:creationId xmlns:p14="http://schemas.microsoft.com/office/powerpoint/2010/main" val="2877644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714777-7D33-46CD-A669-3DE905663E72}"/>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E6C98953-B1FE-449D-8911-5554BA900B5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0B53F244-E971-4E62-B490-94D838B386EA}"/>
              </a:ext>
            </a:extLst>
          </p:cNvPr>
          <p:cNvSpPr>
            <a:spLocks noGrp="1"/>
          </p:cNvSpPr>
          <p:nvPr>
            <p:ph type="dt" sz="half" idx="10"/>
          </p:nvPr>
        </p:nvSpPr>
        <p:spPr/>
        <p:txBody>
          <a:bodyPr/>
          <a:lstStyle/>
          <a:p>
            <a:fld id="{3AA19915-6687-4957-992D-94108D8321D5}" type="datetimeFigureOut">
              <a:rPr lang="en-US" smtClean="0"/>
              <a:t>7/10/2025</a:t>
            </a:fld>
            <a:endParaRPr lang="en-US"/>
          </a:p>
        </p:txBody>
      </p:sp>
      <p:sp>
        <p:nvSpPr>
          <p:cNvPr id="5" name="页脚占位符 4">
            <a:extLst>
              <a:ext uri="{FF2B5EF4-FFF2-40B4-BE49-F238E27FC236}">
                <a16:creationId xmlns:a16="http://schemas.microsoft.com/office/drawing/2014/main" id="{A5059E00-0547-44BB-9834-6A94EA974A78}"/>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D07DF6AD-251C-467C-9213-AEB4CA7E09CE}"/>
              </a:ext>
            </a:extLst>
          </p:cNvPr>
          <p:cNvSpPr>
            <a:spLocks noGrp="1"/>
          </p:cNvSpPr>
          <p:nvPr>
            <p:ph type="sldNum" sz="quarter" idx="12"/>
          </p:nvPr>
        </p:nvSpPr>
        <p:spPr/>
        <p:txBody>
          <a:bodyPr/>
          <a:lstStyle/>
          <a:p>
            <a:fld id="{8065204C-E760-43A8-9351-B0F016BF42DD}" type="slidenum">
              <a:rPr lang="en-US" smtClean="0"/>
              <a:t>‹#›</a:t>
            </a:fld>
            <a:endParaRPr lang="en-US"/>
          </a:p>
        </p:txBody>
      </p:sp>
    </p:spTree>
    <p:extLst>
      <p:ext uri="{BB962C8B-B14F-4D97-AF65-F5344CB8AC3E}">
        <p14:creationId xmlns:p14="http://schemas.microsoft.com/office/powerpoint/2010/main" val="3354692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63C9A69-6316-4449-92A1-0D5887E89E5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14A3BAE2-84EE-4996-89CA-45E28DD118A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17F55E55-4208-4D79-9504-DF26F228136A}"/>
              </a:ext>
            </a:extLst>
          </p:cNvPr>
          <p:cNvSpPr>
            <a:spLocks noGrp="1"/>
          </p:cNvSpPr>
          <p:nvPr>
            <p:ph type="dt" sz="half" idx="10"/>
          </p:nvPr>
        </p:nvSpPr>
        <p:spPr/>
        <p:txBody>
          <a:bodyPr/>
          <a:lstStyle/>
          <a:p>
            <a:fld id="{3AA19915-6687-4957-992D-94108D8321D5}" type="datetimeFigureOut">
              <a:rPr lang="en-US" smtClean="0"/>
              <a:t>7/10/2025</a:t>
            </a:fld>
            <a:endParaRPr lang="en-US"/>
          </a:p>
        </p:txBody>
      </p:sp>
      <p:sp>
        <p:nvSpPr>
          <p:cNvPr id="5" name="页脚占位符 4">
            <a:extLst>
              <a:ext uri="{FF2B5EF4-FFF2-40B4-BE49-F238E27FC236}">
                <a16:creationId xmlns:a16="http://schemas.microsoft.com/office/drawing/2014/main" id="{0CC3C957-9A1C-4CAC-91D5-C2757F462507}"/>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B541642E-9F38-4249-B2AF-1D757CD6A7EC}"/>
              </a:ext>
            </a:extLst>
          </p:cNvPr>
          <p:cNvSpPr>
            <a:spLocks noGrp="1"/>
          </p:cNvSpPr>
          <p:nvPr>
            <p:ph type="sldNum" sz="quarter" idx="12"/>
          </p:nvPr>
        </p:nvSpPr>
        <p:spPr/>
        <p:txBody>
          <a:bodyPr/>
          <a:lstStyle/>
          <a:p>
            <a:fld id="{8065204C-E760-43A8-9351-B0F016BF42DD}" type="slidenum">
              <a:rPr lang="en-US" smtClean="0"/>
              <a:t>‹#›</a:t>
            </a:fld>
            <a:endParaRPr lang="en-US"/>
          </a:p>
        </p:txBody>
      </p:sp>
    </p:spTree>
    <p:extLst>
      <p:ext uri="{BB962C8B-B14F-4D97-AF65-F5344CB8AC3E}">
        <p14:creationId xmlns:p14="http://schemas.microsoft.com/office/powerpoint/2010/main" val="1433395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50AA1B4-9E25-473C-81B8-79FC1BE3AD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DEDD0FC1-AFA7-427D-8086-CB04FDC7F2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C0D3AE68-0B2E-4BFC-B0BA-D3A5FBF08D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A19915-6687-4957-992D-94108D8321D5}" type="datetimeFigureOut">
              <a:rPr lang="en-US" smtClean="0"/>
              <a:t>7/10/2025</a:t>
            </a:fld>
            <a:endParaRPr lang="en-US"/>
          </a:p>
        </p:txBody>
      </p:sp>
      <p:sp>
        <p:nvSpPr>
          <p:cNvPr id="5" name="页脚占位符 4">
            <a:extLst>
              <a:ext uri="{FF2B5EF4-FFF2-40B4-BE49-F238E27FC236}">
                <a16:creationId xmlns:a16="http://schemas.microsoft.com/office/drawing/2014/main" id="{FDE58116-B348-410D-8F6E-5585DC6D78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F460D132-2C31-4460-BA69-D8BF9E3A85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65204C-E760-43A8-9351-B0F016BF42DD}" type="slidenum">
              <a:rPr lang="en-US" smtClean="0"/>
              <a:t>‹#›</a:t>
            </a:fld>
            <a:endParaRPr lang="en-US"/>
          </a:p>
        </p:txBody>
      </p:sp>
    </p:spTree>
    <p:extLst>
      <p:ext uri="{BB962C8B-B14F-4D97-AF65-F5344CB8AC3E}">
        <p14:creationId xmlns:p14="http://schemas.microsoft.com/office/powerpoint/2010/main" val="2076912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8BE1F0D1-2AEB-4A8C-92EE-F623A50D1EA6}"/>
              </a:ext>
            </a:extLst>
          </p:cNvPr>
          <p:cNvSpPr/>
          <p:nvPr/>
        </p:nvSpPr>
        <p:spPr>
          <a:xfrm>
            <a:off x="2108200" y="1122363"/>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矩形 5">
            <a:extLst>
              <a:ext uri="{FF2B5EF4-FFF2-40B4-BE49-F238E27FC236}">
                <a16:creationId xmlns:a16="http://schemas.microsoft.com/office/drawing/2014/main" id="{ADDE04F1-D3D5-4320-B432-562CD08A6B62}"/>
              </a:ext>
            </a:extLst>
          </p:cNvPr>
          <p:cNvSpPr/>
          <p:nvPr/>
        </p:nvSpPr>
        <p:spPr>
          <a:xfrm>
            <a:off x="2108200" y="192703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矩形 6">
            <a:extLst>
              <a:ext uri="{FF2B5EF4-FFF2-40B4-BE49-F238E27FC236}">
                <a16:creationId xmlns:a16="http://schemas.microsoft.com/office/drawing/2014/main" id="{D31AA7F6-06E9-4296-A4C5-60F9D1B81D60}"/>
              </a:ext>
            </a:extLst>
          </p:cNvPr>
          <p:cNvSpPr/>
          <p:nvPr/>
        </p:nvSpPr>
        <p:spPr>
          <a:xfrm>
            <a:off x="2108200" y="2731707"/>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矩形 7">
            <a:extLst>
              <a:ext uri="{FF2B5EF4-FFF2-40B4-BE49-F238E27FC236}">
                <a16:creationId xmlns:a16="http://schemas.microsoft.com/office/drawing/2014/main" id="{83D58614-5894-497C-9094-CBA7AE1E08A9}"/>
              </a:ext>
            </a:extLst>
          </p:cNvPr>
          <p:cNvSpPr/>
          <p:nvPr/>
        </p:nvSpPr>
        <p:spPr>
          <a:xfrm>
            <a:off x="2912872" y="1122363"/>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矩形 8">
            <a:extLst>
              <a:ext uri="{FF2B5EF4-FFF2-40B4-BE49-F238E27FC236}">
                <a16:creationId xmlns:a16="http://schemas.microsoft.com/office/drawing/2014/main" id="{C477C342-BF4C-4EE3-8C8F-250EDFE47AEA}"/>
              </a:ext>
            </a:extLst>
          </p:cNvPr>
          <p:cNvSpPr/>
          <p:nvPr/>
        </p:nvSpPr>
        <p:spPr>
          <a:xfrm>
            <a:off x="2912872" y="192703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9">
            <a:extLst>
              <a:ext uri="{FF2B5EF4-FFF2-40B4-BE49-F238E27FC236}">
                <a16:creationId xmlns:a16="http://schemas.microsoft.com/office/drawing/2014/main" id="{18E950DA-06FB-4889-8D16-5E727706BD6C}"/>
              </a:ext>
            </a:extLst>
          </p:cNvPr>
          <p:cNvSpPr/>
          <p:nvPr/>
        </p:nvSpPr>
        <p:spPr>
          <a:xfrm>
            <a:off x="2912872" y="2731707"/>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矩形 10">
            <a:extLst>
              <a:ext uri="{FF2B5EF4-FFF2-40B4-BE49-F238E27FC236}">
                <a16:creationId xmlns:a16="http://schemas.microsoft.com/office/drawing/2014/main" id="{0E41EDFE-CBCE-411B-8A63-2ABB9B88AD5D}"/>
              </a:ext>
            </a:extLst>
          </p:cNvPr>
          <p:cNvSpPr/>
          <p:nvPr/>
        </p:nvSpPr>
        <p:spPr>
          <a:xfrm>
            <a:off x="3717544" y="1122363"/>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矩形 11">
            <a:extLst>
              <a:ext uri="{FF2B5EF4-FFF2-40B4-BE49-F238E27FC236}">
                <a16:creationId xmlns:a16="http://schemas.microsoft.com/office/drawing/2014/main" id="{4942E4FB-9E65-4704-B960-21B6D545B247}"/>
              </a:ext>
            </a:extLst>
          </p:cNvPr>
          <p:cNvSpPr/>
          <p:nvPr/>
        </p:nvSpPr>
        <p:spPr>
          <a:xfrm>
            <a:off x="3717544" y="192703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矩形 12">
            <a:extLst>
              <a:ext uri="{FF2B5EF4-FFF2-40B4-BE49-F238E27FC236}">
                <a16:creationId xmlns:a16="http://schemas.microsoft.com/office/drawing/2014/main" id="{CAC1C415-901C-4FA6-B221-18360B593A0E}"/>
              </a:ext>
            </a:extLst>
          </p:cNvPr>
          <p:cNvSpPr/>
          <p:nvPr/>
        </p:nvSpPr>
        <p:spPr>
          <a:xfrm>
            <a:off x="3717544" y="2731707"/>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椭圆 14">
            <a:extLst>
              <a:ext uri="{FF2B5EF4-FFF2-40B4-BE49-F238E27FC236}">
                <a16:creationId xmlns:a16="http://schemas.microsoft.com/office/drawing/2014/main" id="{4DF29A05-0D03-4500-AB99-D3A3685DE1A6}"/>
              </a:ext>
            </a:extLst>
          </p:cNvPr>
          <p:cNvSpPr/>
          <p:nvPr/>
        </p:nvSpPr>
        <p:spPr>
          <a:xfrm>
            <a:off x="3114040" y="2140723"/>
            <a:ext cx="201168" cy="20116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等腰三角形 17">
            <a:extLst>
              <a:ext uri="{FF2B5EF4-FFF2-40B4-BE49-F238E27FC236}">
                <a16:creationId xmlns:a16="http://schemas.microsoft.com/office/drawing/2014/main" id="{3709547B-AC82-4C11-AA0D-6A93E3F36B77}"/>
              </a:ext>
            </a:extLst>
          </p:cNvPr>
          <p:cNvSpPr/>
          <p:nvPr/>
        </p:nvSpPr>
        <p:spPr>
          <a:xfrm>
            <a:off x="3134190" y="2283334"/>
            <a:ext cx="181018" cy="234685"/>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椭圆 18">
            <a:extLst>
              <a:ext uri="{FF2B5EF4-FFF2-40B4-BE49-F238E27FC236}">
                <a16:creationId xmlns:a16="http://schemas.microsoft.com/office/drawing/2014/main" id="{397683BE-EC11-4FA0-B406-124219C28788}"/>
              </a:ext>
            </a:extLst>
          </p:cNvPr>
          <p:cNvSpPr/>
          <p:nvPr/>
        </p:nvSpPr>
        <p:spPr>
          <a:xfrm>
            <a:off x="9116907" y="269590"/>
            <a:ext cx="201168" cy="20116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等腰三角形 19">
            <a:extLst>
              <a:ext uri="{FF2B5EF4-FFF2-40B4-BE49-F238E27FC236}">
                <a16:creationId xmlns:a16="http://schemas.microsoft.com/office/drawing/2014/main" id="{4AE4E8F8-9D5C-45C1-A832-E1560F4F4E74}"/>
              </a:ext>
            </a:extLst>
          </p:cNvPr>
          <p:cNvSpPr/>
          <p:nvPr/>
        </p:nvSpPr>
        <p:spPr>
          <a:xfrm>
            <a:off x="9137057" y="412201"/>
            <a:ext cx="181018" cy="234685"/>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文本框 20">
            <a:extLst>
              <a:ext uri="{FF2B5EF4-FFF2-40B4-BE49-F238E27FC236}">
                <a16:creationId xmlns:a16="http://schemas.microsoft.com/office/drawing/2014/main" id="{7053F16C-3A09-4D31-BDBD-0C4D6BE80770}"/>
              </a:ext>
            </a:extLst>
          </p:cNvPr>
          <p:cNvSpPr txBox="1"/>
          <p:nvPr/>
        </p:nvSpPr>
        <p:spPr>
          <a:xfrm>
            <a:off x="9762065" y="147592"/>
            <a:ext cx="2167467" cy="646331"/>
          </a:xfrm>
          <a:prstGeom prst="rect">
            <a:avLst/>
          </a:prstGeom>
          <a:noFill/>
        </p:spPr>
        <p:txBody>
          <a:bodyPr wrap="square" rtlCol="0">
            <a:spAutoFit/>
          </a:bodyPr>
          <a:lstStyle/>
          <a:p>
            <a:r>
              <a:rPr lang="en-US" dirty="0"/>
              <a:t>User</a:t>
            </a:r>
          </a:p>
          <a:p>
            <a:r>
              <a:rPr lang="zh-CN" altLang="en-US" dirty="0"/>
              <a:t>用户</a:t>
            </a:r>
            <a:endParaRPr lang="en-US" dirty="0"/>
          </a:p>
        </p:txBody>
      </p:sp>
      <p:sp>
        <p:nvSpPr>
          <p:cNvPr id="22" name="矩形 21">
            <a:extLst>
              <a:ext uri="{FF2B5EF4-FFF2-40B4-BE49-F238E27FC236}">
                <a16:creationId xmlns:a16="http://schemas.microsoft.com/office/drawing/2014/main" id="{B8BC0785-F9DA-4D72-A5A5-FA16279E3531}"/>
              </a:ext>
            </a:extLst>
          </p:cNvPr>
          <p:cNvSpPr/>
          <p:nvPr/>
        </p:nvSpPr>
        <p:spPr>
          <a:xfrm>
            <a:off x="8815155" y="927629"/>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22">
            <a:extLst>
              <a:ext uri="{FF2B5EF4-FFF2-40B4-BE49-F238E27FC236}">
                <a16:creationId xmlns:a16="http://schemas.microsoft.com/office/drawing/2014/main" id="{C14BB636-1140-4F07-8546-D1FCA885B46E}"/>
              </a:ext>
            </a:extLst>
          </p:cNvPr>
          <p:cNvSpPr txBox="1"/>
          <p:nvPr/>
        </p:nvSpPr>
        <p:spPr>
          <a:xfrm>
            <a:off x="9762065" y="1006799"/>
            <a:ext cx="2167467" cy="646331"/>
          </a:xfrm>
          <a:prstGeom prst="rect">
            <a:avLst/>
          </a:prstGeom>
          <a:noFill/>
        </p:spPr>
        <p:txBody>
          <a:bodyPr wrap="square" rtlCol="0">
            <a:spAutoFit/>
          </a:bodyPr>
          <a:lstStyle/>
          <a:p>
            <a:r>
              <a:rPr lang="en-US" dirty="0"/>
              <a:t>Liftable surface</a:t>
            </a:r>
          </a:p>
          <a:p>
            <a:r>
              <a:rPr lang="zh-CN" altLang="en-US" dirty="0"/>
              <a:t>可升降平面</a:t>
            </a:r>
            <a:endParaRPr lang="en-US" dirty="0"/>
          </a:p>
        </p:txBody>
      </p:sp>
    </p:spTree>
    <p:extLst>
      <p:ext uri="{BB962C8B-B14F-4D97-AF65-F5344CB8AC3E}">
        <p14:creationId xmlns:p14="http://schemas.microsoft.com/office/powerpoint/2010/main" val="2915292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8BE1F0D1-2AEB-4A8C-92EE-F623A50D1EA6}"/>
              </a:ext>
            </a:extLst>
          </p:cNvPr>
          <p:cNvSpPr/>
          <p:nvPr/>
        </p:nvSpPr>
        <p:spPr>
          <a:xfrm>
            <a:off x="2108200" y="1122363"/>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矩形 5">
            <a:extLst>
              <a:ext uri="{FF2B5EF4-FFF2-40B4-BE49-F238E27FC236}">
                <a16:creationId xmlns:a16="http://schemas.microsoft.com/office/drawing/2014/main" id="{ADDE04F1-D3D5-4320-B432-562CD08A6B62}"/>
              </a:ext>
            </a:extLst>
          </p:cNvPr>
          <p:cNvSpPr/>
          <p:nvPr/>
        </p:nvSpPr>
        <p:spPr>
          <a:xfrm>
            <a:off x="2108200" y="192703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矩形 6">
            <a:extLst>
              <a:ext uri="{FF2B5EF4-FFF2-40B4-BE49-F238E27FC236}">
                <a16:creationId xmlns:a16="http://schemas.microsoft.com/office/drawing/2014/main" id="{D31AA7F6-06E9-4296-A4C5-60F9D1B81D60}"/>
              </a:ext>
            </a:extLst>
          </p:cNvPr>
          <p:cNvSpPr/>
          <p:nvPr/>
        </p:nvSpPr>
        <p:spPr>
          <a:xfrm>
            <a:off x="2108200" y="2731707"/>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矩形 7">
            <a:extLst>
              <a:ext uri="{FF2B5EF4-FFF2-40B4-BE49-F238E27FC236}">
                <a16:creationId xmlns:a16="http://schemas.microsoft.com/office/drawing/2014/main" id="{83D58614-5894-497C-9094-CBA7AE1E08A9}"/>
              </a:ext>
            </a:extLst>
          </p:cNvPr>
          <p:cNvSpPr/>
          <p:nvPr/>
        </p:nvSpPr>
        <p:spPr>
          <a:xfrm>
            <a:off x="2912872" y="1122363"/>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矩形 8">
            <a:extLst>
              <a:ext uri="{FF2B5EF4-FFF2-40B4-BE49-F238E27FC236}">
                <a16:creationId xmlns:a16="http://schemas.microsoft.com/office/drawing/2014/main" id="{C477C342-BF4C-4EE3-8C8F-250EDFE47AEA}"/>
              </a:ext>
            </a:extLst>
          </p:cNvPr>
          <p:cNvSpPr/>
          <p:nvPr/>
        </p:nvSpPr>
        <p:spPr>
          <a:xfrm>
            <a:off x="2912872" y="192703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9">
            <a:extLst>
              <a:ext uri="{FF2B5EF4-FFF2-40B4-BE49-F238E27FC236}">
                <a16:creationId xmlns:a16="http://schemas.microsoft.com/office/drawing/2014/main" id="{18E950DA-06FB-4889-8D16-5E727706BD6C}"/>
              </a:ext>
            </a:extLst>
          </p:cNvPr>
          <p:cNvSpPr/>
          <p:nvPr/>
        </p:nvSpPr>
        <p:spPr>
          <a:xfrm>
            <a:off x="2912872" y="2731707"/>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矩形 10">
            <a:extLst>
              <a:ext uri="{FF2B5EF4-FFF2-40B4-BE49-F238E27FC236}">
                <a16:creationId xmlns:a16="http://schemas.microsoft.com/office/drawing/2014/main" id="{0E41EDFE-CBCE-411B-8A63-2ABB9B88AD5D}"/>
              </a:ext>
            </a:extLst>
          </p:cNvPr>
          <p:cNvSpPr/>
          <p:nvPr/>
        </p:nvSpPr>
        <p:spPr>
          <a:xfrm>
            <a:off x="3717544" y="1122363"/>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矩形 11">
            <a:extLst>
              <a:ext uri="{FF2B5EF4-FFF2-40B4-BE49-F238E27FC236}">
                <a16:creationId xmlns:a16="http://schemas.microsoft.com/office/drawing/2014/main" id="{4942E4FB-9E65-4704-B960-21B6D545B247}"/>
              </a:ext>
            </a:extLst>
          </p:cNvPr>
          <p:cNvSpPr/>
          <p:nvPr/>
        </p:nvSpPr>
        <p:spPr>
          <a:xfrm>
            <a:off x="3717544" y="192703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矩形 12">
            <a:extLst>
              <a:ext uri="{FF2B5EF4-FFF2-40B4-BE49-F238E27FC236}">
                <a16:creationId xmlns:a16="http://schemas.microsoft.com/office/drawing/2014/main" id="{CAC1C415-901C-4FA6-B221-18360B593A0E}"/>
              </a:ext>
            </a:extLst>
          </p:cNvPr>
          <p:cNvSpPr/>
          <p:nvPr/>
        </p:nvSpPr>
        <p:spPr>
          <a:xfrm>
            <a:off x="3717544" y="2731707"/>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椭圆 14">
            <a:extLst>
              <a:ext uri="{FF2B5EF4-FFF2-40B4-BE49-F238E27FC236}">
                <a16:creationId xmlns:a16="http://schemas.microsoft.com/office/drawing/2014/main" id="{4DF29A05-0D03-4500-AB99-D3A3685DE1A6}"/>
              </a:ext>
            </a:extLst>
          </p:cNvPr>
          <p:cNvSpPr/>
          <p:nvPr/>
        </p:nvSpPr>
        <p:spPr>
          <a:xfrm>
            <a:off x="3114040" y="2140723"/>
            <a:ext cx="201168" cy="20116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等腰三角形 17">
            <a:extLst>
              <a:ext uri="{FF2B5EF4-FFF2-40B4-BE49-F238E27FC236}">
                <a16:creationId xmlns:a16="http://schemas.microsoft.com/office/drawing/2014/main" id="{3709547B-AC82-4C11-AA0D-6A93E3F36B77}"/>
              </a:ext>
            </a:extLst>
          </p:cNvPr>
          <p:cNvSpPr/>
          <p:nvPr/>
        </p:nvSpPr>
        <p:spPr>
          <a:xfrm>
            <a:off x="3134190" y="2283334"/>
            <a:ext cx="181018" cy="234685"/>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椭圆 18">
            <a:extLst>
              <a:ext uri="{FF2B5EF4-FFF2-40B4-BE49-F238E27FC236}">
                <a16:creationId xmlns:a16="http://schemas.microsoft.com/office/drawing/2014/main" id="{397683BE-EC11-4FA0-B406-124219C28788}"/>
              </a:ext>
            </a:extLst>
          </p:cNvPr>
          <p:cNvSpPr/>
          <p:nvPr/>
        </p:nvSpPr>
        <p:spPr>
          <a:xfrm>
            <a:off x="9116907" y="269590"/>
            <a:ext cx="201168" cy="20116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等腰三角形 19">
            <a:extLst>
              <a:ext uri="{FF2B5EF4-FFF2-40B4-BE49-F238E27FC236}">
                <a16:creationId xmlns:a16="http://schemas.microsoft.com/office/drawing/2014/main" id="{4AE4E8F8-9D5C-45C1-A832-E1560F4F4E74}"/>
              </a:ext>
            </a:extLst>
          </p:cNvPr>
          <p:cNvSpPr/>
          <p:nvPr/>
        </p:nvSpPr>
        <p:spPr>
          <a:xfrm>
            <a:off x="9137057" y="412201"/>
            <a:ext cx="181018" cy="234685"/>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文本框 20">
            <a:extLst>
              <a:ext uri="{FF2B5EF4-FFF2-40B4-BE49-F238E27FC236}">
                <a16:creationId xmlns:a16="http://schemas.microsoft.com/office/drawing/2014/main" id="{7053F16C-3A09-4D31-BDBD-0C4D6BE80770}"/>
              </a:ext>
            </a:extLst>
          </p:cNvPr>
          <p:cNvSpPr txBox="1"/>
          <p:nvPr/>
        </p:nvSpPr>
        <p:spPr>
          <a:xfrm>
            <a:off x="9762065" y="147592"/>
            <a:ext cx="2167467" cy="646331"/>
          </a:xfrm>
          <a:prstGeom prst="rect">
            <a:avLst/>
          </a:prstGeom>
          <a:noFill/>
        </p:spPr>
        <p:txBody>
          <a:bodyPr wrap="square" rtlCol="0">
            <a:spAutoFit/>
          </a:bodyPr>
          <a:lstStyle/>
          <a:p>
            <a:r>
              <a:rPr lang="en-US" dirty="0"/>
              <a:t>User</a:t>
            </a:r>
          </a:p>
          <a:p>
            <a:r>
              <a:rPr lang="zh-CN" altLang="en-US" dirty="0"/>
              <a:t>用户</a:t>
            </a:r>
            <a:endParaRPr lang="en-US" dirty="0"/>
          </a:p>
        </p:txBody>
      </p:sp>
      <p:sp>
        <p:nvSpPr>
          <p:cNvPr id="22" name="矩形 21">
            <a:extLst>
              <a:ext uri="{FF2B5EF4-FFF2-40B4-BE49-F238E27FC236}">
                <a16:creationId xmlns:a16="http://schemas.microsoft.com/office/drawing/2014/main" id="{B8BC0785-F9DA-4D72-A5A5-FA16279E3531}"/>
              </a:ext>
            </a:extLst>
          </p:cNvPr>
          <p:cNvSpPr/>
          <p:nvPr/>
        </p:nvSpPr>
        <p:spPr>
          <a:xfrm>
            <a:off x="8815155" y="927629"/>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文本框 23">
            <a:extLst>
              <a:ext uri="{FF2B5EF4-FFF2-40B4-BE49-F238E27FC236}">
                <a16:creationId xmlns:a16="http://schemas.microsoft.com/office/drawing/2014/main" id="{F9BA8376-2650-4793-89B9-4D9E0FEF6305}"/>
              </a:ext>
            </a:extLst>
          </p:cNvPr>
          <p:cNvSpPr txBox="1"/>
          <p:nvPr/>
        </p:nvSpPr>
        <p:spPr>
          <a:xfrm>
            <a:off x="1150587" y="4607800"/>
            <a:ext cx="9890825" cy="1200329"/>
          </a:xfrm>
          <a:prstGeom prst="rect">
            <a:avLst/>
          </a:prstGeom>
          <a:noFill/>
        </p:spPr>
        <p:txBody>
          <a:bodyPr wrap="square" rtlCol="0">
            <a:spAutoFit/>
          </a:bodyPr>
          <a:lstStyle/>
          <a:p>
            <a:r>
              <a:rPr lang="en-US" altLang="zh-CN" dirty="0"/>
              <a:t>When the player moves, the surrounding space will be automatically filled with the player as the center.</a:t>
            </a:r>
          </a:p>
          <a:p>
            <a:r>
              <a:rPr lang="zh-CN" altLang="en-US" dirty="0"/>
              <a:t>当玩家移动后，以玩家为中心将周围的空间自动填补上</a:t>
            </a:r>
            <a:endParaRPr lang="en-US" altLang="zh-CN" dirty="0"/>
          </a:p>
          <a:p>
            <a:r>
              <a:rPr lang="en-US" altLang="zh-CN" dirty="0"/>
              <a:t>This is the 3D space scheduling algorithm</a:t>
            </a:r>
          </a:p>
          <a:p>
            <a:r>
              <a:rPr lang="zh-CN" altLang="en-US" dirty="0"/>
              <a:t>这就是空间调度算法</a:t>
            </a:r>
            <a:endParaRPr lang="en-US" dirty="0"/>
          </a:p>
        </p:txBody>
      </p:sp>
      <p:sp>
        <p:nvSpPr>
          <p:cNvPr id="27" name="文本框 26">
            <a:extLst>
              <a:ext uri="{FF2B5EF4-FFF2-40B4-BE49-F238E27FC236}">
                <a16:creationId xmlns:a16="http://schemas.microsoft.com/office/drawing/2014/main" id="{FC5BEE7A-BC0C-4D63-A920-C3ED73A18756}"/>
              </a:ext>
            </a:extLst>
          </p:cNvPr>
          <p:cNvSpPr txBox="1"/>
          <p:nvPr/>
        </p:nvSpPr>
        <p:spPr>
          <a:xfrm>
            <a:off x="9697915" y="1006799"/>
            <a:ext cx="2494085" cy="646331"/>
          </a:xfrm>
          <a:prstGeom prst="rect">
            <a:avLst/>
          </a:prstGeom>
          <a:noFill/>
        </p:spPr>
        <p:txBody>
          <a:bodyPr wrap="square" rtlCol="0">
            <a:spAutoFit/>
          </a:bodyPr>
          <a:lstStyle/>
          <a:p>
            <a:r>
              <a:rPr lang="en-US" dirty="0"/>
              <a:t>Liftable </a:t>
            </a:r>
            <a:r>
              <a:rPr lang="en-US" altLang="zh-CN" dirty="0"/>
              <a:t>movable</a:t>
            </a:r>
            <a:r>
              <a:rPr lang="en-US" dirty="0"/>
              <a:t> surface</a:t>
            </a:r>
          </a:p>
          <a:p>
            <a:r>
              <a:rPr lang="zh-CN" altLang="en-US" dirty="0"/>
              <a:t>可升降可移动平面</a:t>
            </a:r>
            <a:endParaRPr lang="en-US" dirty="0"/>
          </a:p>
        </p:txBody>
      </p:sp>
    </p:spTree>
    <p:extLst>
      <p:ext uri="{BB962C8B-B14F-4D97-AF65-F5344CB8AC3E}">
        <p14:creationId xmlns:p14="http://schemas.microsoft.com/office/powerpoint/2010/main" val="3261550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1.875E-6 -3.7037E-7 L 0.08073 0.00625 " pathEditMode="relative" rAng="0" ptsTypes="AA">
                                      <p:cBhvr>
                                        <p:cTn id="6" dur="2000" fill="hold"/>
                                        <p:tgtEl>
                                          <p:spTgt spid="15"/>
                                        </p:tgtEl>
                                        <p:attrNameLst>
                                          <p:attrName>ppt_x</p:attrName>
                                          <p:attrName>ppt_y</p:attrName>
                                        </p:attrNameLst>
                                      </p:cBhvr>
                                      <p:rCtr x="4036" y="301"/>
                                    </p:animMotion>
                                  </p:childTnLst>
                                </p:cTn>
                              </p:par>
                              <p:par>
                                <p:cTn id="7" presetID="63" presetClass="path" presetSubtype="0" accel="50000" decel="50000" fill="hold" grpId="0" nodeType="withEffect">
                                  <p:stCondLst>
                                    <p:cond delay="0"/>
                                  </p:stCondLst>
                                  <p:childTnLst>
                                    <p:animMotion origin="layout" path="M -3.125E-6 0 L 0.0793 0.00069 " pathEditMode="relative" rAng="0" ptsTypes="AA">
                                      <p:cBhvr>
                                        <p:cTn id="8" dur="2000" fill="hold"/>
                                        <p:tgtEl>
                                          <p:spTgt spid="18"/>
                                        </p:tgtEl>
                                        <p:attrNameLst>
                                          <p:attrName>ppt_x</p:attrName>
                                          <p:attrName>ppt_y</p:attrName>
                                        </p:attrNameLst>
                                      </p:cBhvr>
                                      <p:rCtr x="3958" y="23"/>
                                    </p:animMotion>
                                  </p:childTnLst>
                                </p:cTn>
                              </p:par>
                            </p:childTnLst>
                          </p:cTn>
                        </p:par>
                      </p:childTnLst>
                    </p:cTn>
                  </p:par>
                  <p:par>
                    <p:cTn id="9" fill="hold">
                      <p:stCondLst>
                        <p:cond delay="indefinite"/>
                      </p:stCondLst>
                      <p:childTnLst>
                        <p:par>
                          <p:cTn id="10" fill="hold">
                            <p:stCondLst>
                              <p:cond delay="0"/>
                            </p:stCondLst>
                            <p:childTnLst>
                              <p:par>
                                <p:cTn id="11" presetID="50" presetClass="path" presetSubtype="0" accel="50000" decel="50000" fill="hold" grpId="0" nodeType="clickEffect">
                                  <p:stCondLst>
                                    <p:cond delay="0"/>
                                  </p:stCondLst>
                                  <p:childTnLst>
                                    <p:animMotion origin="layout" path="M 6.25E-7 -0.11736 L 0.09844 -0.11736 C 0.14258 -0.11736 0.19727 -0.08518 0.19727 -0.05879 L 0.19727 -2.22222E-6 " pathEditMode="relative" rAng="0" ptsTypes="AAAA">
                                      <p:cBhvr>
                                        <p:cTn id="12" dur="2000" fill="hold"/>
                                        <p:tgtEl>
                                          <p:spTgt spid="5"/>
                                        </p:tgtEl>
                                        <p:attrNameLst>
                                          <p:attrName>ppt_x</p:attrName>
                                          <p:attrName>ppt_y</p:attrName>
                                        </p:attrNameLst>
                                      </p:cBhvr>
                                      <p:rCtr x="9857" y="5856"/>
                                    </p:animMotion>
                                  </p:childTnLst>
                                </p:cTn>
                              </p:par>
                            </p:childTnLst>
                          </p:cTn>
                        </p:par>
                      </p:childTnLst>
                    </p:cTn>
                  </p:par>
                  <p:par>
                    <p:cTn id="13" fill="hold">
                      <p:stCondLst>
                        <p:cond delay="indefinite"/>
                      </p:stCondLst>
                      <p:childTnLst>
                        <p:par>
                          <p:cTn id="14" fill="hold">
                            <p:stCondLst>
                              <p:cond delay="0"/>
                            </p:stCondLst>
                            <p:childTnLst>
                              <p:par>
                                <p:cTn id="15" presetID="50" presetClass="path" presetSubtype="0" accel="50000" decel="50000" fill="hold" grpId="0" nodeType="clickEffect">
                                  <p:stCondLst>
                                    <p:cond delay="0"/>
                                  </p:stCondLst>
                                  <p:childTnLst>
                                    <p:animMotion origin="layout" path="M 6.25E-7 0.11737 L 0.09935 0.11737 C 0.14375 0.11737 0.1987 0.05255 0.1987 -0.00023 L 0.1987 -0.11736 " pathEditMode="relative" rAng="0" ptsTypes="AAAA">
                                      <p:cBhvr>
                                        <p:cTn id="16" dur="2000" fill="hold"/>
                                        <p:tgtEl>
                                          <p:spTgt spid="7"/>
                                        </p:tgtEl>
                                        <p:attrNameLst>
                                          <p:attrName>ppt_x</p:attrName>
                                          <p:attrName>ppt_y</p:attrName>
                                        </p:attrNameLst>
                                      </p:cBhvr>
                                      <p:rCtr x="9935" y="-11736"/>
                                    </p:animMotion>
                                  </p:childTnLst>
                                </p:cTn>
                              </p:par>
                            </p:childTnLst>
                          </p:cTn>
                        </p:par>
                      </p:childTnLst>
                    </p:cTn>
                  </p:par>
                  <p:par>
                    <p:cTn id="17" fill="hold">
                      <p:stCondLst>
                        <p:cond delay="indefinite"/>
                      </p:stCondLst>
                      <p:childTnLst>
                        <p:par>
                          <p:cTn id="18" fill="hold">
                            <p:stCondLst>
                              <p:cond delay="0"/>
                            </p:stCondLst>
                            <p:childTnLst>
                              <p:par>
                                <p:cTn id="19" presetID="37" presetClass="path" presetSubtype="0" accel="50000" decel="50000" fill="hold" grpId="0" nodeType="clickEffect">
                                  <p:stCondLst>
                                    <p:cond delay="0"/>
                                  </p:stCondLst>
                                  <p:childTnLst>
                                    <p:animMotion origin="layout" path="M 6.25E-7 0.11922 L 0.05365 0.225 C 0.06471 0.24746 0.08138 0.26204 0.09896 0.26204 C 0.11875 0.26204 0.1349 0.24746 0.14596 0.225 L 0.19948 0.11922 " pathEditMode="relative" rAng="0" ptsTypes="AAAAA">
                                      <p:cBhvr>
                                        <p:cTn id="20" dur="2000" fill="hold"/>
                                        <p:tgtEl>
                                          <p:spTgt spid="6"/>
                                        </p:tgtEl>
                                        <p:attrNameLst>
                                          <p:attrName>ppt_x</p:attrName>
                                          <p:attrName>ppt_y</p:attrName>
                                        </p:attrNameLst>
                                      </p:cBhvr>
                                      <p:rCtr x="9974" y="713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5" grpId="0" animBg="1"/>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E9752EC-9BA4-45A7-9B91-AD106EF2E2FA}"/>
              </a:ext>
            </a:extLst>
          </p:cNvPr>
          <p:cNvSpPr/>
          <p:nvPr/>
        </p:nvSpPr>
        <p:spPr>
          <a:xfrm>
            <a:off x="2080248" y="95348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直接连接符 5">
            <a:extLst>
              <a:ext uri="{FF2B5EF4-FFF2-40B4-BE49-F238E27FC236}">
                <a16:creationId xmlns:a16="http://schemas.microsoft.com/office/drawing/2014/main" id="{67974189-2CFA-419A-A8A1-670D397FB245}"/>
              </a:ext>
            </a:extLst>
          </p:cNvPr>
          <p:cNvCxnSpPr/>
          <p:nvPr/>
        </p:nvCxnSpPr>
        <p:spPr>
          <a:xfrm>
            <a:off x="2080248" y="1758157"/>
            <a:ext cx="773723" cy="744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02F4263-70E5-4A4B-990C-5C8672B9E703}"/>
              </a:ext>
            </a:extLst>
          </p:cNvPr>
          <p:cNvCxnSpPr>
            <a:cxnSpLocks/>
          </p:cNvCxnSpPr>
          <p:nvPr/>
        </p:nvCxnSpPr>
        <p:spPr>
          <a:xfrm flipH="1">
            <a:off x="2080248" y="1758156"/>
            <a:ext cx="804673" cy="744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B7FFEB4-A01B-423D-8756-E77DE963A330}"/>
              </a:ext>
            </a:extLst>
          </p:cNvPr>
          <p:cNvCxnSpPr/>
          <p:nvPr/>
        </p:nvCxnSpPr>
        <p:spPr>
          <a:xfrm>
            <a:off x="2111197" y="2502938"/>
            <a:ext cx="773723" cy="744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64D0206-D42E-4FB8-B7A8-6784E724E594}"/>
              </a:ext>
            </a:extLst>
          </p:cNvPr>
          <p:cNvCxnSpPr>
            <a:cxnSpLocks/>
          </p:cNvCxnSpPr>
          <p:nvPr/>
        </p:nvCxnSpPr>
        <p:spPr>
          <a:xfrm flipH="1">
            <a:off x="2080248" y="2502937"/>
            <a:ext cx="804673" cy="744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BA921DB8-6ADF-4E70-86E4-82FEDABFD5EB}"/>
              </a:ext>
            </a:extLst>
          </p:cNvPr>
          <p:cNvCxnSpPr>
            <a:cxnSpLocks/>
          </p:cNvCxnSpPr>
          <p:nvPr/>
        </p:nvCxnSpPr>
        <p:spPr>
          <a:xfrm>
            <a:off x="2112592" y="3247719"/>
            <a:ext cx="773723" cy="744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6C3E226A-412F-48CB-AB7E-467DDE756CF9}"/>
              </a:ext>
            </a:extLst>
          </p:cNvPr>
          <p:cNvCxnSpPr>
            <a:cxnSpLocks/>
          </p:cNvCxnSpPr>
          <p:nvPr/>
        </p:nvCxnSpPr>
        <p:spPr>
          <a:xfrm flipH="1">
            <a:off x="2080248" y="3271774"/>
            <a:ext cx="804673" cy="744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E8EF0B6B-2C2A-461E-9339-0ABBA573BAC9}"/>
              </a:ext>
            </a:extLst>
          </p:cNvPr>
          <p:cNvCxnSpPr>
            <a:cxnSpLocks/>
          </p:cNvCxnSpPr>
          <p:nvPr/>
        </p:nvCxnSpPr>
        <p:spPr>
          <a:xfrm>
            <a:off x="2111197" y="4016556"/>
            <a:ext cx="773723"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3CF680C6-175F-4CC1-B2A5-8358CE4DEC84}"/>
              </a:ext>
            </a:extLst>
          </p:cNvPr>
          <p:cNvSpPr/>
          <p:nvPr/>
        </p:nvSpPr>
        <p:spPr>
          <a:xfrm>
            <a:off x="2180832" y="4040611"/>
            <a:ext cx="201168" cy="2011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椭圆 19">
            <a:extLst>
              <a:ext uri="{FF2B5EF4-FFF2-40B4-BE49-F238E27FC236}">
                <a16:creationId xmlns:a16="http://schemas.microsoft.com/office/drawing/2014/main" id="{7A89BC75-4CFB-409C-93DA-A2065482C076}"/>
              </a:ext>
            </a:extLst>
          </p:cNvPr>
          <p:cNvSpPr/>
          <p:nvPr/>
        </p:nvSpPr>
        <p:spPr>
          <a:xfrm>
            <a:off x="2652803" y="4040611"/>
            <a:ext cx="201168" cy="2011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22">
            <a:extLst>
              <a:ext uri="{FF2B5EF4-FFF2-40B4-BE49-F238E27FC236}">
                <a16:creationId xmlns:a16="http://schemas.microsoft.com/office/drawing/2014/main" id="{126A1DC9-0F7F-4DC0-8533-BD07A21D5D7A}"/>
              </a:ext>
            </a:extLst>
          </p:cNvPr>
          <p:cNvSpPr txBox="1"/>
          <p:nvPr/>
        </p:nvSpPr>
        <p:spPr>
          <a:xfrm>
            <a:off x="3601915" y="953485"/>
            <a:ext cx="2494085" cy="646331"/>
          </a:xfrm>
          <a:prstGeom prst="rect">
            <a:avLst/>
          </a:prstGeom>
          <a:noFill/>
        </p:spPr>
        <p:txBody>
          <a:bodyPr wrap="square" rtlCol="0">
            <a:spAutoFit/>
          </a:bodyPr>
          <a:lstStyle/>
          <a:p>
            <a:r>
              <a:rPr lang="en-US" dirty="0"/>
              <a:t>Liftable </a:t>
            </a:r>
            <a:r>
              <a:rPr lang="en-US" altLang="zh-CN" dirty="0"/>
              <a:t>movable</a:t>
            </a:r>
            <a:r>
              <a:rPr lang="en-US" dirty="0"/>
              <a:t> surface</a:t>
            </a:r>
          </a:p>
          <a:p>
            <a:r>
              <a:rPr lang="zh-CN" altLang="en-US" dirty="0"/>
              <a:t>可升降可移动平面</a:t>
            </a:r>
            <a:endParaRPr lang="en-US" dirty="0"/>
          </a:p>
        </p:txBody>
      </p:sp>
    </p:spTree>
    <p:extLst>
      <p:ext uri="{BB962C8B-B14F-4D97-AF65-F5344CB8AC3E}">
        <p14:creationId xmlns:p14="http://schemas.microsoft.com/office/powerpoint/2010/main" val="1043664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E9752EC-9BA4-45A7-9B91-AD106EF2E2FA}"/>
              </a:ext>
            </a:extLst>
          </p:cNvPr>
          <p:cNvSpPr/>
          <p:nvPr/>
        </p:nvSpPr>
        <p:spPr>
          <a:xfrm>
            <a:off x="2080248" y="95348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直接连接符 5">
            <a:extLst>
              <a:ext uri="{FF2B5EF4-FFF2-40B4-BE49-F238E27FC236}">
                <a16:creationId xmlns:a16="http://schemas.microsoft.com/office/drawing/2014/main" id="{67974189-2CFA-419A-A8A1-670D397FB245}"/>
              </a:ext>
            </a:extLst>
          </p:cNvPr>
          <p:cNvCxnSpPr>
            <a:cxnSpLocks/>
          </p:cNvCxnSpPr>
          <p:nvPr/>
        </p:nvCxnSpPr>
        <p:spPr>
          <a:xfrm>
            <a:off x="2080248" y="1758157"/>
            <a:ext cx="804672" cy="343205"/>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02F4263-70E5-4A4B-990C-5C8672B9E703}"/>
              </a:ext>
            </a:extLst>
          </p:cNvPr>
          <p:cNvCxnSpPr>
            <a:cxnSpLocks/>
          </p:cNvCxnSpPr>
          <p:nvPr/>
        </p:nvCxnSpPr>
        <p:spPr>
          <a:xfrm flipH="1">
            <a:off x="2111197" y="1758156"/>
            <a:ext cx="773725" cy="343206"/>
          </a:xfrm>
          <a:prstGeom prst="line">
            <a:avLst/>
          </a:prstGeom>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126A1DC9-0F7F-4DC0-8533-BD07A21D5D7A}"/>
              </a:ext>
            </a:extLst>
          </p:cNvPr>
          <p:cNvSpPr txBox="1"/>
          <p:nvPr/>
        </p:nvSpPr>
        <p:spPr>
          <a:xfrm>
            <a:off x="3601915" y="953485"/>
            <a:ext cx="2494085" cy="646331"/>
          </a:xfrm>
          <a:prstGeom prst="rect">
            <a:avLst/>
          </a:prstGeom>
          <a:noFill/>
        </p:spPr>
        <p:txBody>
          <a:bodyPr wrap="square" rtlCol="0">
            <a:spAutoFit/>
          </a:bodyPr>
          <a:lstStyle/>
          <a:p>
            <a:r>
              <a:rPr lang="en-US" dirty="0"/>
              <a:t>Liftable </a:t>
            </a:r>
            <a:r>
              <a:rPr lang="en-US" altLang="zh-CN" dirty="0"/>
              <a:t>movable</a:t>
            </a:r>
            <a:r>
              <a:rPr lang="en-US" dirty="0"/>
              <a:t> surface</a:t>
            </a:r>
          </a:p>
          <a:p>
            <a:r>
              <a:rPr lang="zh-CN" altLang="en-US" dirty="0"/>
              <a:t>可升降可移动平面</a:t>
            </a:r>
            <a:endParaRPr lang="en-US" dirty="0"/>
          </a:p>
        </p:txBody>
      </p:sp>
      <p:cxnSp>
        <p:nvCxnSpPr>
          <p:cNvPr id="16" name="直接连接符 15">
            <a:extLst>
              <a:ext uri="{FF2B5EF4-FFF2-40B4-BE49-F238E27FC236}">
                <a16:creationId xmlns:a16="http://schemas.microsoft.com/office/drawing/2014/main" id="{D6B0C447-C898-4B67-ABB0-7F2827A0A0B0}"/>
              </a:ext>
            </a:extLst>
          </p:cNvPr>
          <p:cNvCxnSpPr>
            <a:cxnSpLocks/>
          </p:cNvCxnSpPr>
          <p:nvPr/>
        </p:nvCxnSpPr>
        <p:spPr>
          <a:xfrm>
            <a:off x="2111197" y="2118948"/>
            <a:ext cx="804672" cy="3432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363DD897-92BD-40AE-BF25-8FA65FB370F2}"/>
              </a:ext>
            </a:extLst>
          </p:cNvPr>
          <p:cNvCxnSpPr>
            <a:cxnSpLocks/>
          </p:cNvCxnSpPr>
          <p:nvPr/>
        </p:nvCxnSpPr>
        <p:spPr>
          <a:xfrm flipH="1">
            <a:off x="2145287" y="2101362"/>
            <a:ext cx="773725" cy="3432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FAC5700-C553-47BD-A717-936EACCE2013}"/>
              </a:ext>
            </a:extLst>
          </p:cNvPr>
          <p:cNvCxnSpPr>
            <a:cxnSpLocks/>
          </p:cNvCxnSpPr>
          <p:nvPr/>
        </p:nvCxnSpPr>
        <p:spPr>
          <a:xfrm>
            <a:off x="2111197" y="2456141"/>
            <a:ext cx="804672" cy="3432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BDD80D9D-2FF1-412C-94E4-FC8A1C88A34F}"/>
              </a:ext>
            </a:extLst>
          </p:cNvPr>
          <p:cNvCxnSpPr>
            <a:cxnSpLocks/>
          </p:cNvCxnSpPr>
          <p:nvPr/>
        </p:nvCxnSpPr>
        <p:spPr>
          <a:xfrm flipH="1">
            <a:off x="2142837" y="2462152"/>
            <a:ext cx="773725" cy="3432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FEB21604-6759-48E8-99BF-E8E7449C421F}"/>
              </a:ext>
            </a:extLst>
          </p:cNvPr>
          <p:cNvCxnSpPr>
            <a:cxnSpLocks/>
          </p:cNvCxnSpPr>
          <p:nvPr/>
        </p:nvCxnSpPr>
        <p:spPr>
          <a:xfrm>
            <a:off x="2147761" y="2793334"/>
            <a:ext cx="773723"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椭圆 24">
            <a:extLst>
              <a:ext uri="{FF2B5EF4-FFF2-40B4-BE49-F238E27FC236}">
                <a16:creationId xmlns:a16="http://schemas.microsoft.com/office/drawing/2014/main" id="{A0C9D00B-18A9-46AD-88D1-24FF14DBEECE}"/>
              </a:ext>
            </a:extLst>
          </p:cNvPr>
          <p:cNvSpPr/>
          <p:nvPr/>
        </p:nvSpPr>
        <p:spPr>
          <a:xfrm>
            <a:off x="2217396" y="2817389"/>
            <a:ext cx="201168" cy="2011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椭圆 25">
            <a:extLst>
              <a:ext uri="{FF2B5EF4-FFF2-40B4-BE49-F238E27FC236}">
                <a16:creationId xmlns:a16="http://schemas.microsoft.com/office/drawing/2014/main" id="{0AC999AD-C906-40B2-BF90-5E491FCEE878}"/>
              </a:ext>
            </a:extLst>
          </p:cNvPr>
          <p:cNvSpPr/>
          <p:nvPr/>
        </p:nvSpPr>
        <p:spPr>
          <a:xfrm>
            <a:off x="2689367" y="2817389"/>
            <a:ext cx="201168" cy="2011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9929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E9752EC-9BA4-45A7-9B91-AD106EF2E2FA}"/>
              </a:ext>
            </a:extLst>
          </p:cNvPr>
          <p:cNvSpPr/>
          <p:nvPr/>
        </p:nvSpPr>
        <p:spPr>
          <a:xfrm>
            <a:off x="2080248" y="95348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直接连接符 5">
            <a:extLst>
              <a:ext uri="{FF2B5EF4-FFF2-40B4-BE49-F238E27FC236}">
                <a16:creationId xmlns:a16="http://schemas.microsoft.com/office/drawing/2014/main" id="{67974189-2CFA-419A-A8A1-670D397FB245}"/>
              </a:ext>
            </a:extLst>
          </p:cNvPr>
          <p:cNvCxnSpPr/>
          <p:nvPr/>
        </p:nvCxnSpPr>
        <p:spPr>
          <a:xfrm>
            <a:off x="2080248" y="1758157"/>
            <a:ext cx="773723" cy="744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02F4263-70E5-4A4B-990C-5C8672B9E703}"/>
              </a:ext>
            </a:extLst>
          </p:cNvPr>
          <p:cNvCxnSpPr>
            <a:cxnSpLocks/>
          </p:cNvCxnSpPr>
          <p:nvPr/>
        </p:nvCxnSpPr>
        <p:spPr>
          <a:xfrm flipH="1">
            <a:off x="2080248" y="1758156"/>
            <a:ext cx="804673" cy="744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B7FFEB4-A01B-423D-8756-E77DE963A330}"/>
              </a:ext>
            </a:extLst>
          </p:cNvPr>
          <p:cNvCxnSpPr/>
          <p:nvPr/>
        </p:nvCxnSpPr>
        <p:spPr>
          <a:xfrm>
            <a:off x="2111197" y="2502938"/>
            <a:ext cx="773723" cy="744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64D0206-D42E-4FB8-B7A8-6784E724E594}"/>
              </a:ext>
            </a:extLst>
          </p:cNvPr>
          <p:cNvCxnSpPr>
            <a:cxnSpLocks/>
          </p:cNvCxnSpPr>
          <p:nvPr/>
        </p:nvCxnSpPr>
        <p:spPr>
          <a:xfrm flipH="1">
            <a:off x="2080248" y="2502937"/>
            <a:ext cx="804673" cy="744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BA921DB8-6ADF-4E70-86E4-82FEDABFD5EB}"/>
              </a:ext>
            </a:extLst>
          </p:cNvPr>
          <p:cNvCxnSpPr>
            <a:cxnSpLocks/>
          </p:cNvCxnSpPr>
          <p:nvPr/>
        </p:nvCxnSpPr>
        <p:spPr>
          <a:xfrm>
            <a:off x="2112592" y="3247719"/>
            <a:ext cx="773723" cy="744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6C3E226A-412F-48CB-AB7E-467DDE756CF9}"/>
              </a:ext>
            </a:extLst>
          </p:cNvPr>
          <p:cNvCxnSpPr>
            <a:cxnSpLocks/>
          </p:cNvCxnSpPr>
          <p:nvPr/>
        </p:nvCxnSpPr>
        <p:spPr>
          <a:xfrm flipH="1">
            <a:off x="2080248" y="3271774"/>
            <a:ext cx="804673" cy="744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E8EF0B6B-2C2A-461E-9339-0ABBA573BAC9}"/>
              </a:ext>
            </a:extLst>
          </p:cNvPr>
          <p:cNvCxnSpPr>
            <a:cxnSpLocks/>
          </p:cNvCxnSpPr>
          <p:nvPr/>
        </p:nvCxnSpPr>
        <p:spPr>
          <a:xfrm>
            <a:off x="2111197" y="4016556"/>
            <a:ext cx="773723"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3CF680C6-175F-4CC1-B2A5-8358CE4DEC84}"/>
              </a:ext>
            </a:extLst>
          </p:cNvPr>
          <p:cNvSpPr/>
          <p:nvPr/>
        </p:nvSpPr>
        <p:spPr>
          <a:xfrm>
            <a:off x="2180832" y="4040611"/>
            <a:ext cx="201168" cy="2011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椭圆 19">
            <a:extLst>
              <a:ext uri="{FF2B5EF4-FFF2-40B4-BE49-F238E27FC236}">
                <a16:creationId xmlns:a16="http://schemas.microsoft.com/office/drawing/2014/main" id="{7A89BC75-4CFB-409C-93DA-A2065482C076}"/>
              </a:ext>
            </a:extLst>
          </p:cNvPr>
          <p:cNvSpPr/>
          <p:nvPr/>
        </p:nvSpPr>
        <p:spPr>
          <a:xfrm>
            <a:off x="2652803" y="4040611"/>
            <a:ext cx="201168" cy="2011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22">
            <a:extLst>
              <a:ext uri="{FF2B5EF4-FFF2-40B4-BE49-F238E27FC236}">
                <a16:creationId xmlns:a16="http://schemas.microsoft.com/office/drawing/2014/main" id="{126A1DC9-0F7F-4DC0-8533-BD07A21D5D7A}"/>
              </a:ext>
            </a:extLst>
          </p:cNvPr>
          <p:cNvSpPr txBox="1"/>
          <p:nvPr/>
        </p:nvSpPr>
        <p:spPr>
          <a:xfrm>
            <a:off x="3601915" y="953485"/>
            <a:ext cx="2494085" cy="646331"/>
          </a:xfrm>
          <a:prstGeom prst="rect">
            <a:avLst/>
          </a:prstGeom>
          <a:noFill/>
        </p:spPr>
        <p:txBody>
          <a:bodyPr wrap="square" rtlCol="0">
            <a:spAutoFit/>
          </a:bodyPr>
          <a:lstStyle/>
          <a:p>
            <a:r>
              <a:rPr lang="en-US" dirty="0"/>
              <a:t>Liftable </a:t>
            </a:r>
            <a:r>
              <a:rPr lang="en-US" altLang="zh-CN" dirty="0"/>
              <a:t>movable</a:t>
            </a:r>
            <a:r>
              <a:rPr lang="en-US" dirty="0"/>
              <a:t> surface</a:t>
            </a:r>
          </a:p>
          <a:p>
            <a:r>
              <a:rPr lang="zh-CN" altLang="en-US" dirty="0"/>
              <a:t>可升降可移动平面</a:t>
            </a:r>
            <a:endParaRPr lang="en-US" dirty="0"/>
          </a:p>
        </p:txBody>
      </p:sp>
    </p:spTree>
    <p:extLst>
      <p:ext uri="{BB962C8B-B14F-4D97-AF65-F5344CB8AC3E}">
        <p14:creationId xmlns:p14="http://schemas.microsoft.com/office/powerpoint/2010/main" val="1903703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E9752EC-9BA4-45A7-9B91-AD106EF2E2FA}"/>
              </a:ext>
            </a:extLst>
          </p:cNvPr>
          <p:cNvSpPr/>
          <p:nvPr/>
        </p:nvSpPr>
        <p:spPr>
          <a:xfrm>
            <a:off x="2080248" y="95348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直接连接符 5">
            <a:extLst>
              <a:ext uri="{FF2B5EF4-FFF2-40B4-BE49-F238E27FC236}">
                <a16:creationId xmlns:a16="http://schemas.microsoft.com/office/drawing/2014/main" id="{67974189-2CFA-419A-A8A1-670D397FB245}"/>
              </a:ext>
            </a:extLst>
          </p:cNvPr>
          <p:cNvCxnSpPr/>
          <p:nvPr/>
        </p:nvCxnSpPr>
        <p:spPr>
          <a:xfrm>
            <a:off x="2080248" y="1758157"/>
            <a:ext cx="773723" cy="744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02F4263-70E5-4A4B-990C-5C8672B9E703}"/>
              </a:ext>
            </a:extLst>
          </p:cNvPr>
          <p:cNvCxnSpPr>
            <a:cxnSpLocks/>
          </p:cNvCxnSpPr>
          <p:nvPr/>
        </p:nvCxnSpPr>
        <p:spPr>
          <a:xfrm flipH="1">
            <a:off x="2080248" y="1758156"/>
            <a:ext cx="804673" cy="744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B7FFEB4-A01B-423D-8756-E77DE963A330}"/>
              </a:ext>
            </a:extLst>
          </p:cNvPr>
          <p:cNvCxnSpPr/>
          <p:nvPr/>
        </p:nvCxnSpPr>
        <p:spPr>
          <a:xfrm>
            <a:off x="2111197" y="2502938"/>
            <a:ext cx="773723" cy="744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64D0206-D42E-4FB8-B7A8-6784E724E594}"/>
              </a:ext>
            </a:extLst>
          </p:cNvPr>
          <p:cNvCxnSpPr>
            <a:cxnSpLocks/>
          </p:cNvCxnSpPr>
          <p:nvPr/>
        </p:nvCxnSpPr>
        <p:spPr>
          <a:xfrm flipH="1">
            <a:off x="2080248" y="2502937"/>
            <a:ext cx="804673" cy="744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BA921DB8-6ADF-4E70-86E4-82FEDABFD5EB}"/>
              </a:ext>
            </a:extLst>
          </p:cNvPr>
          <p:cNvCxnSpPr>
            <a:cxnSpLocks/>
          </p:cNvCxnSpPr>
          <p:nvPr/>
        </p:nvCxnSpPr>
        <p:spPr>
          <a:xfrm>
            <a:off x="2112592" y="3247719"/>
            <a:ext cx="773723" cy="744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6C3E226A-412F-48CB-AB7E-467DDE756CF9}"/>
              </a:ext>
            </a:extLst>
          </p:cNvPr>
          <p:cNvCxnSpPr>
            <a:cxnSpLocks/>
          </p:cNvCxnSpPr>
          <p:nvPr/>
        </p:nvCxnSpPr>
        <p:spPr>
          <a:xfrm flipH="1">
            <a:off x="2080248" y="3271774"/>
            <a:ext cx="804673" cy="744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E8EF0B6B-2C2A-461E-9339-0ABBA573BAC9}"/>
              </a:ext>
            </a:extLst>
          </p:cNvPr>
          <p:cNvCxnSpPr>
            <a:cxnSpLocks/>
          </p:cNvCxnSpPr>
          <p:nvPr/>
        </p:nvCxnSpPr>
        <p:spPr>
          <a:xfrm>
            <a:off x="2111197" y="4016556"/>
            <a:ext cx="773723"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3CF680C6-175F-4CC1-B2A5-8358CE4DEC84}"/>
              </a:ext>
            </a:extLst>
          </p:cNvPr>
          <p:cNvSpPr/>
          <p:nvPr/>
        </p:nvSpPr>
        <p:spPr>
          <a:xfrm>
            <a:off x="2180832" y="4040611"/>
            <a:ext cx="201168" cy="2011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椭圆 19">
            <a:extLst>
              <a:ext uri="{FF2B5EF4-FFF2-40B4-BE49-F238E27FC236}">
                <a16:creationId xmlns:a16="http://schemas.microsoft.com/office/drawing/2014/main" id="{7A89BC75-4CFB-409C-93DA-A2065482C076}"/>
              </a:ext>
            </a:extLst>
          </p:cNvPr>
          <p:cNvSpPr/>
          <p:nvPr/>
        </p:nvSpPr>
        <p:spPr>
          <a:xfrm>
            <a:off x="2652803" y="4040611"/>
            <a:ext cx="201168" cy="2011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22">
            <a:extLst>
              <a:ext uri="{FF2B5EF4-FFF2-40B4-BE49-F238E27FC236}">
                <a16:creationId xmlns:a16="http://schemas.microsoft.com/office/drawing/2014/main" id="{126A1DC9-0F7F-4DC0-8533-BD07A21D5D7A}"/>
              </a:ext>
            </a:extLst>
          </p:cNvPr>
          <p:cNvSpPr txBox="1"/>
          <p:nvPr/>
        </p:nvSpPr>
        <p:spPr>
          <a:xfrm>
            <a:off x="3601915" y="953485"/>
            <a:ext cx="2494085" cy="646331"/>
          </a:xfrm>
          <a:prstGeom prst="rect">
            <a:avLst/>
          </a:prstGeom>
          <a:noFill/>
        </p:spPr>
        <p:txBody>
          <a:bodyPr wrap="square" rtlCol="0">
            <a:spAutoFit/>
          </a:bodyPr>
          <a:lstStyle/>
          <a:p>
            <a:r>
              <a:rPr lang="en-US" dirty="0"/>
              <a:t>Liftable </a:t>
            </a:r>
            <a:r>
              <a:rPr lang="en-US" altLang="zh-CN" dirty="0"/>
              <a:t>movable</a:t>
            </a:r>
            <a:r>
              <a:rPr lang="en-US" dirty="0"/>
              <a:t> surface</a:t>
            </a:r>
          </a:p>
          <a:p>
            <a:r>
              <a:rPr lang="zh-CN" altLang="en-US" dirty="0"/>
              <a:t>可升降可移动平面</a:t>
            </a:r>
            <a:endParaRPr lang="en-US" dirty="0"/>
          </a:p>
        </p:txBody>
      </p:sp>
    </p:spTree>
    <p:extLst>
      <p:ext uri="{BB962C8B-B14F-4D97-AF65-F5344CB8AC3E}">
        <p14:creationId xmlns:p14="http://schemas.microsoft.com/office/powerpoint/2010/main" val="297670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 0 C 0.05781 -0.00602 0.09401 -0.00996 0.1651 -0.01019 C 0.2168 -0.01042 0.26849 -0.00602 0.32018 -0.00394 L 0.35039 -0.00649 L 0.42982 -0.00649 " pathEditMode="relative" ptsTypes="AAAAAA">
                                      <p:cBhvr>
                                        <p:cTn id="6" dur="2000" fill="hold"/>
                                        <p:tgtEl>
                                          <p:spTgt spid="4"/>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 0 L 0 0 C 0.05781 -0.00602 0.09401 -0.00996 0.1651 -0.01019 C 0.2168 -0.01042 0.26849 -0.00602 0.32018 -0.00394 L 0.35039 -0.00649 L 0.42982 -0.00649 " pathEditMode="relative" ptsTypes="AAAAAA">
                                      <p:cBhvr>
                                        <p:cTn id="8" dur="2000" fill="hold"/>
                                        <p:tgtEl>
                                          <p:spTgt spid="6"/>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0 0 L 0 0 C 0.05781 -0.00602 0.09401 -0.00996 0.1651 -0.01019 C 0.2168 -0.01042 0.26849 -0.00602 0.32018 -0.00394 L 0.35039 -0.00649 L 0.42982 -0.00649 " pathEditMode="relative" ptsTypes="AAAAAA">
                                      <p:cBhvr>
                                        <p:cTn id="10" dur="2000" fill="hold"/>
                                        <p:tgtEl>
                                          <p:spTgt spid="7"/>
                                        </p:tgtEl>
                                        <p:attrNameLst>
                                          <p:attrName>ppt_x</p:attrName>
                                          <p:attrName>ppt_y</p:attrName>
                                        </p:attrNameLst>
                                      </p:cBhvr>
                                    </p:animMotion>
                                  </p:childTnLst>
                                </p:cTn>
                              </p:par>
                              <p:par>
                                <p:cTn id="11" presetID="0" presetClass="path" presetSubtype="0" accel="50000" decel="50000" fill="hold" nodeType="withEffect">
                                  <p:stCondLst>
                                    <p:cond delay="0"/>
                                  </p:stCondLst>
                                  <p:childTnLst>
                                    <p:animMotion origin="layout" path="M 0 0 L 0 0 C 0.05781 -0.00602 0.09401 -0.00996 0.1651 -0.01019 C 0.2168 -0.01042 0.26849 -0.00602 0.32018 -0.00394 L 0.35039 -0.00649 L 0.42982 -0.00649 " pathEditMode="relative" ptsTypes="AAAAAA">
                                      <p:cBhvr>
                                        <p:cTn id="12" dur="2000" fill="hold"/>
                                        <p:tgtEl>
                                          <p:spTgt spid="10"/>
                                        </p:tgtEl>
                                        <p:attrNameLst>
                                          <p:attrName>ppt_x</p:attrName>
                                          <p:attrName>ppt_y</p:attrName>
                                        </p:attrNameLst>
                                      </p:cBhvr>
                                    </p:animMotion>
                                  </p:childTnLst>
                                </p:cTn>
                              </p:par>
                              <p:par>
                                <p:cTn id="13" presetID="0" presetClass="path" presetSubtype="0" accel="50000" decel="50000" fill="hold" nodeType="withEffect">
                                  <p:stCondLst>
                                    <p:cond delay="0"/>
                                  </p:stCondLst>
                                  <p:childTnLst>
                                    <p:animMotion origin="layout" path="M 0 0 L 0 0 C 0.05781 -0.00602 0.09401 -0.00996 0.1651 -0.01019 C 0.2168 -0.01042 0.26849 -0.00602 0.32018 -0.00394 L 0.35039 -0.00649 L 0.42982 -0.00649 " pathEditMode="relative" ptsTypes="AAAAAA">
                                      <p:cBhvr>
                                        <p:cTn id="14" dur="2000" fill="hold"/>
                                        <p:tgtEl>
                                          <p:spTgt spid="11"/>
                                        </p:tgtEl>
                                        <p:attrNameLst>
                                          <p:attrName>ppt_x</p:attrName>
                                          <p:attrName>ppt_y</p:attrName>
                                        </p:attrNameLst>
                                      </p:cBhvr>
                                    </p:animMotion>
                                  </p:childTnLst>
                                </p:cTn>
                              </p:par>
                              <p:par>
                                <p:cTn id="15" presetID="0" presetClass="path" presetSubtype="0" accel="50000" decel="50000" fill="hold" nodeType="withEffect">
                                  <p:stCondLst>
                                    <p:cond delay="0"/>
                                  </p:stCondLst>
                                  <p:childTnLst>
                                    <p:animMotion origin="layout" path="M 0 0 L 0 0 C 0.05781 -0.00602 0.09401 -0.00996 0.1651 -0.01019 C 0.2168 -0.01042 0.26849 -0.00602 0.32018 -0.00394 L 0.35039 -0.00649 L 0.42982 -0.00649 " pathEditMode="relative" ptsTypes="AAAAAA">
                                      <p:cBhvr>
                                        <p:cTn id="16" dur="2000" fill="hold"/>
                                        <p:tgtEl>
                                          <p:spTgt spid="12"/>
                                        </p:tgtEl>
                                        <p:attrNameLst>
                                          <p:attrName>ppt_x</p:attrName>
                                          <p:attrName>ppt_y</p:attrName>
                                        </p:attrNameLst>
                                      </p:cBhvr>
                                    </p:animMotion>
                                  </p:childTnLst>
                                </p:cTn>
                              </p:par>
                              <p:par>
                                <p:cTn id="17" presetID="0" presetClass="path" presetSubtype="0" accel="50000" decel="50000" fill="hold" nodeType="withEffect">
                                  <p:stCondLst>
                                    <p:cond delay="0"/>
                                  </p:stCondLst>
                                  <p:childTnLst>
                                    <p:animMotion origin="layout" path="M 0 0 L 0 0 C 0.05781 -0.00602 0.09401 -0.00996 0.1651 -0.01019 C 0.2168 -0.01042 0.26849 -0.00602 0.32018 -0.00394 L 0.35039 -0.00649 L 0.42982 -0.00649 " pathEditMode="relative" ptsTypes="AAAAAA">
                                      <p:cBhvr>
                                        <p:cTn id="18" dur="2000" fill="hold"/>
                                        <p:tgtEl>
                                          <p:spTgt spid="15"/>
                                        </p:tgtEl>
                                        <p:attrNameLst>
                                          <p:attrName>ppt_x</p:attrName>
                                          <p:attrName>ppt_y</p:attrName>
                                        </p:attrNameLst>
                                      </p:cBhvr>
                                    </p:animMotion>
                                  </p:childTnLst>
                                </p:cTn>
                              </p:par>
                              <p:par>
                                <p:cTn id="19" presetID="0" presetClass="path" presetSubtype="0" accel="50000" decel="50000" fill="hold" nodeType="withEffect">
                                  <p:stCondLst>
                                    <p:cond delay="0"/>
                                  </p:stCondLst>
                                  <p:childTnLst>
                                    <p:animMotion origin="layout" path="M 0 0 L 0 0 C 0.05781 -0.00602 0.09401 -0.00996 0.1651 -0.01019 C 0.2168 -0.01042 0.26849 -0.00602 0.32018 -0.00394 L 0.35039 -0.00649 L 0.42982 -0.00649 " pathEditMode="relative" ptsTypes="AAAAAA">
                                      <p:cBhvr>
                                        <p:cTn id="20" dur="2000" fill="hold"/>
                                        <p:tgtEl>
                                          <p:spTgt spid="17"/>
                                        </p:tgtEl>
                                        <p:attrNameLst>
                                          <p:attrName>ppt_x</p:attrName>
                                          <p:attrName>ppt_y</p:attrName>
                                        </p:attrNameLst>
                                      </p:cBhvr>
                                    </p:animMotion>
                                  </p:childTnLst>
                                </p:cTn>
                              </p:par>
                              <p:par>
                                <p:cTn id="21" presetID="0" presetClass="path" presetSubtype="0" accel="50000" decel="50000" fill="hold" grpId="0" nodeType="withEffect">
                                  <p:stCondLst>
                                    <p:cond delay="0"/>
                                  </p:stCondLst>
                                  <p:childTnLst>
                                    <p:animMotion origin="layout" path="M 0 0 L 0 0 C 0.05781 -0.00602 0.09401 -0.00996 0.1651 -0.01019 C 0.2168 -0.01042 0.26849 -0.00602 0.32018 -0.00394 L 0.35039 -0.00649 L 0.42982 -0.00649 " pathEditMode="relative" ptsTypes="AAAAAA">
                                      <p:cBhvr>
                                        <p:cTn id="22" dur="2000" fill="hold"/>
                                        <p:tgtEl>
                                          <p:spTgt spid="18"/>
                                        </p:tgtEl>
                                        <p:attrNameLst>
                                          <p:attrName>ppt_x</p:attrName>
                                          <p:attrName>ppt_y</p:attrName>
                                        </p:attrNameLst>
                                      </p:cBhvr>
                                    </p:animMotion>
                                  </p:childTnLst>
                                </p:cTn>
                              </p:par>
                              <p:par>
                                <p:cTn id="23" presetID="0" presetClass="path" presetSubtype="0" accel="50000" decel="50000" fill="hold" grpId="0" nodeType="withEffect">
                                  <p:stCondLst>
                                    <p:cond delay="0"/>
                                  </p:stCondLst>
                                  <p:childTnLst>
                                    <p:animMotion origin="layout" path="M 0 0 L 0 0 C 0.05781 -0.00602 0.09401 -0.00996 0.1651 -0.01019 C 0.2168 -0.01042 0.26849 -0.00602 0.32018 -0.00394 L 0.35039 -0.00649 L 0.42982 -0.00649 " pathEditMode="relative" ptsTypes="AAAAAA">
                                      <p:cBhvr>
                                        <p:cTn id="24" dur="2000" fill="hold"/>
                                        <p:tgtEl>
                                          <p:spTgt spid="2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8" grpId="0" animBg="1"/>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E9752EC-9BA4-45A7-9B91-AD106EF2E2FA}"/>
              </a:ext>
            </a:extLst>
          </p:cNvPr>
          <p:cNvSpPr/>
          <p:nvPr/>
        </p:nvSpPr>
        <p:spPr>
          <a:xfrm>
            <a:off x="2080248" y="95348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直接连接符 5">
            <a:extLst>
              <a:ext uri="{FF2B5EF4-FFF2-40B4-BE49-F238E27FC236}">
                <a16:creationId xmlns:a16="http://schemas.microsoft.com/office/drawing/2014/main" id="{67974189-2CFA-419A-A8A1-670D397FB245}"/>
              </a:ext>
            </a:extLst>
          </p:cNvPr>
          <p:cNvCxnSpPr/>
          <p:nvPr/>
        </p:nvCxnSpPr>
        <p:spPr>
          <a:xfrm>
            <a:off x="2080248" y="1758157"/>
            <a:ext cx="773723" cy="744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02F4263-70E5-4A4B-990C-5C8672B9E703}"/>
              </a:ext>
            </a:extLst>
          </p:cNvPr>
          <p:cNvCxnSpPr>
            <a:cxnSpLocks/>
          </p:cNvCxnSpPr>
          <p:nvPr/>
        </p:nvCxnSpPr>
        <p:spPr>
          <a:xfrm flipH="1">
            <a:off x="2080248" y="1758156"/>
            <a:ext cx="804673" cy="744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B7FFEB4-A01B-423D-8756-E77DE963A330}"/>
              </a:ext>
            </a:extLst>
          </p:cNvPr>
          <p:cNvCxnSpPr/>
          <p:nvPr/>
        </p:nvCxnSpPr>
        <p:spPr>
          <a:xfrm>
            <a:off x="2111197" y="2502938"/>
            <a:ext cx="773723" cy="744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64D0206-D42E-4FB8-B7A8-6784E724E594}"/>
              </a:ext>
            </a:extLst>
          </p:cNvPr>
          <p:cNvCxnSpPr>
            <a:cxnSpLocks/>
          </p:cNvCxnSpPr>
          <p:nvPr/>
        </p:nvCxnSpPr>
        <p:spPr>
          <a:xfrm flipH="1">
            <a:off x="2080248" y="2502937"/>
            <a:ext cx="804673" cy="744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BA921DB8-6ADF-4E70-86E4-82FEDABFD5EB}"/>
              </a:ext>
            </a:extLst>
          </p:cNvPr>
          <p:cNvCxnSpPr>
            <a:cxnSpLocks/>
          </p:cNvCxnSpPr>
          <p:nvPr/>
        </p:nvCxnSpPr>
        <p:spPr>
          <a:xfrm>
            <a:off x="2112592" y="3247719"/>
            <a:ext cx="773723" cy="744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6C3E226A-412F-48CB-AB7E-467DDE756CF9}"/>
              </a:ext>
            </a:extLst>
          </p:cNvPr>
          <p:cNvCxnSpPr>
            <a:cxnSpLocks/>
          </p:cNvCxnSpPr>
          <p:nvPr/>
        </p:nvCxnSpPr>
        <p:spPr>
          <a:xfrm flipH="1">
            <a:off x="2080248" y="3271774"/>
            <a:ext cx="804673" cy="744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E8EF0B6B-2C2A-461E-9339-0ABBA573BAC9}"/>
              </a:ext>
            </a:extLst>
          </p:cNvPr>
          <p:cNvCxnSpPr>
            <a:cxnSpLocks/>
          </p:cNvCxnSpPr>
          <p:nvPr/>
        </p:nvCxnSpPr>
        <p:spPr>
          <a:xfrm>
            <a:off x="2111197" y="4016556"/>
            <a:ext cx="773723"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3CF680C6-175F-4CC1-B2A5-8358CE4DEC84}"/>
              </a:ext>
            </a:extLst>
          </p:cNvPr>
          <p:cNvSpPr/>
          <p:nvPr/>
        </p:nvSpPr>
        <p:spPr>
          <a:xfrm>
            <a:off x="2180832" y="4040611"/>
            <a:ext cx="201168" cy="2011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椭圆 19">
            <a:extLst>
              <a:ext uri="{FF2B5EF4-FFF2-40B4-BE49-F238E27FC236}">
                <a16:creationId xmlns:a16="http://schemas.microsoft.com/office/drawing/2014/main" id="{7A89BC75-4CFB-409C-93DA-A2065482C076}"/>
              </a:ext>
            </a:extLst>
          </p:cNvPr>
          <p:cNvSpPr/>
          <p:nvPr/>
        </p:nvSpPr>
        <p:spPr>
          <a:xfrm>
            <a:off x="2652803" y="4040611"/>
            <a:ext cx="201168" cy="2011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22">
            <a:extLst>
              <a:ext uri="{FF2B5EF4-FFF2-40B4-BE49-F238E27FC236}">
                <a16:creationId xmlns:a16="http://schemas.microsoft.com/office/drawing/2014/main" id="{126A1DC9-0F7F-4DC0-8533-BD07A21D5D7A}"/>
              </a:ext>
            </a:extLst>
          </p:cNvPr>
          <p:cNvSpPr txBox="1"/>
          <p:nvPr/>
        </p:nvSpPr>
        <p:spPr>
          <a:xfrm>
            <a:off x="3601915" y="953485"/>
            <a:ext cx="2494085" cy="646331"/>
          </a:xfrm>
          <a:prstGeom prst="rect">
            <a:avLst/>
          </a:prstGeom>
          <a:noFill/>
        </p:spPr>
        <p:txBody>
          <a:bodyPr wrap="square" rtlCol="0">
            <a:spAutoFit/>
          </a:bodyPr>
          <a:lstStyle/>
          <a:p>
            <a:r>
              <a:rPr lang="en-US" dirty="0"/>
              <a:t>Liftable </a:t>
            </a:r>
            <a:r>
              <a:rPr lang="en-US" altLang="zh-CN" dirty="0"/>
              <a:t>movable</a:t>
            </a:r>
            <a:r>
              <a:rPr lang="en-US" dirty="0"/>
              <a:t> surface</a:t>
            </a:r>
          </a:p>
          <a:p>
            <a:r>
              <a:rPr lang="zh-CN" altLang="en-US" dirty="0"/>
              <a:t>可升降可移动平面</a:t>
            </a:r>
            <a:endParaRPr lang="en-US" dirty="0"/>
          </a:p>
        </p:txBody>
      </p:sp>
      <p:sp>
        <p:nvSpPr>
          <p:cNvPr id="13" name="矩形 12">
            <a:extLst>
              <a:ext uri="{FF2B5EF4-FFF2-40B4-BE49-F238E27FC236}">
                <a16:creationId xmlns:a16="http://schemas.microsoft.com/office/drawing/2014/main" id="{A20DA1A5-24CD-47B5-9DF4-E7E9BD7C55A6}"/>
              </a:ext>
            </a:extLst>
          </p:cNvPr>
          <p:cNvSpPr/>
          <p:nvPr/>
        </p:nvSpPr>
        <p:spPr>
          <a:xfrm>
            <a:off x="8134119" y="895764"/>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直接连接符 13">
            <a:extLst>
              <a:ext uri="{FF2B5EF4-FFF2-40B4-BE49-F238E27FC236}">
                <a16:creationId xmlns:a16="http://schemas.microsoft.com/office/drawing/2014/main" id="{4D60DC55-84DD-460C-A694-B46F22D39764}"/>
              </a:ext>
            </a:extLst>
          </p:cNvPr>
          <p:cNvCxnSpPr/>
          <p:nvPr/>
        </p:nvCxnSpPr>
        <p:spPr>
          <a:xfrm>
            <a:off x="8134119" y="1700436"/>
            <a:ext cx="773723" cy="744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5CEC7FE6-5423-4121-A491-E27CB4C7AF9C}"/>
              </a:ext>
            </a:extLst>
          </p:cNvPr>
          <p:cNvCxnSpPr>
            <a:cxnSpLocks/>
          </p:cNvCxnSpPr>
          <p:nvPr/>
        </p:nvCxnSpPr>
        <p:spPr>
          <a:xfrm flipH="1">
            <a:off x="8134119" y="1700435"/>
            <a:ext cx="804673" cy="744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8CF5D758-16A6-4484-B125-8EA5662613E6}"/>
              </a:ext>
            </a:extLst>
          </p:cNvPr>
          <p:cNvCxnSpPr/>
          <p:nvPr/>
        </p:nvCxnSpPr>
        <p:spPr>
          <a:xfrm>
            <a:off x="8165068" y="2445217"/>
            <a:ext cx="773723" cy="744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D26DEF61-062C-4B5E-A952-F2FF05FC92CA}"/>
              </a:ext>
            </a:extLst>
          </p:cNvPr>
          <p:cNvCxnSpPr>
            <a:cxnSpLocks/>
          </p:cNvCxnSpPr>
          <p:nvPr/>
        </p:nvCxnSpPr>
        <p:spPr>
          <a:xfrm flipH="1">
            <a:off x="8134119" y="2445216"/>
            <a:ext cx="804673" cy="744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58F91099-790E-4A22-901F-2BC15909F7B1}"/>
              </a:ext>
            </a:extLst>
          </p:cNvPr>
          <p:cNvCxnSpPr>
            <a:cxnSpLocks/>
          </p:cNvCxnSpPr>
          <p:nvPr/>
        </p:nvCxnSpPr>
        <p:spPr>
          <a:xfrm>
            <a:off x="8166463" y="3189998"/>
            <a:ext cx="773723" cy="744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AFB71390-EE5E-453C-BEA7-289F1050AFF7}"/>
              </a:ext>
            </a:extLst>
          </p:cNvPr>
          <p:cNvCxnSpPr>
            <a:cxnSpLocks/>
          </p:cNvCxnSpPr>
          <p:nvPr/>
        </p:nvCxnSpPr>
        <p:spPr>
          <a:xfrm flipH="1">
            <a:off x="8134119" y="3214053"/>
            <a:ext cx="804673" cy="744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6A07BEE-0CB3-4604-827E-8D0EE9E3DF6F}"/>
              </a:ext>
            </a:extLst>
          </p:cNvPr>
          <p:cNvCxnSpPr>
            <a:cxnSpLocks/>
          </p:cNvCxnSpPr>
          <p:nvPr/>
        </p:nvCxnSpPr>
        <p:spPr>
          <a:xfrm>
            <a:off x="8165068" y="3958835"/>
            <a:ext cx="773723"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椭圆 25">
            <a:extLst>
              <a:ext uri="{FF2B5EF4-FFF2-40B4-BE49-F238E27FC236}">
                <a16:creationId xmlns:a16="http://schemas.microsoft.com/office/drawing/2014/main" id="{DC99447C-7A86-452D-809C-36865512865C}"/>
              </a:ext>
            </a:extLst>
          </p:cNvPr>
          <p:cNvSpPr/>
          <p:nvPr/>
        </p:nvSpPr>
        <p:spPr>
          <a:xfrm>
            <a:off x="8234703" y="3982890"/>
            <a:ext cx="201168" cy="2011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椭圆 26">
            <a:extLst>
              <a:ext uri="{FF2B5EF4-FFF2-40B4-BE49-F238E27FC236}">
                <a16:creationId xmlns:a16="http://schemas.microsoft.com/office/drawing/2014/main" id="{97EEBFE8-A4C3-4111-83B9-F0EED2F68BE3}"/>
              </a:ext>
            </a:extLst>
          </p:cNvPr>
          <p:cNvSpPr/>
          <p:nvPr/>
        </p:nvSpPr>
        <p:spPr>
          <a:xfrm>
            <a:off x="8706674" y="3982890"/>
            <a:ext cx="201168" cy="2011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3730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 0 C 0.05781 -0.00602 0.09401 -0.00996 0.1651 -0.01019 C 0.2168 -0.01042 0.26849 -0.00602 0.32018 -0.00394 L 0.35039 -0.00649 L 0.42982 -0.00649 " pathEditMode="relative" ptsTypes="AAAAAA">
                                      <p:cBhvr>
                                        <p:cTn id="6" dur="2000" fill="hold"/>
                                        <p:tgtEl>
                                          <p:spTgt spid="4"/>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 0 L 0 0 C 0.05781 -0.00602 0.09401 -0.00996 0.1651 -0.01019 C 0.2168 -0.01042 0.26849 -0.00602 0.32018 -0.00394 L 0.35039 -0.00649 L 0.42982 -0.00649 " pathEditMode="relative" ptsTypes="AAAAAA">
                                      <p:cBhvr>
                                        <p:cTn id="8" dur="2000" fill="hold"/>
                                        <p:tgtEl>
                                          <p:spTgt spid="6"/>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0 0 L 0 0 C 0.05781 -0.00602 0.09401 -0.00996 0.1651 -0.01019 C 0.2168 -0.01042 0.26849 -0.00602 0.32018 -0.00394 L 0.35039 -0.00649 L 0.42982 -0.00649 " pathEditMode="relative" ptsTypes="AAAAAA">
                                      <p:cBhvr>
                                        <p:cTn id="10" dur="2000" fill="hold"/>
                                        <p:tgtEl>
                                          <p:spTgt spid="7"/>
                                        </p:tgtEl>
                                        <p:attrNameLst>
                                          <p:attrName>ppt_x</p:attrName>
                                          <p:attrName>ppt_y</p:attrName>
                                        </p:attrNameLst>
                                      </p:cBhvr>
                                    </p:animMotion>
                                  </p:childTnLst>
                                </p:cTn>
                              </p:par>
                              <p:par>
                                <p:cTn id="11" presetID="0" presetClass="path" presetSubtype="0" accel="50000" decel="50000" fill="hold" nodeType="withEffect">
                                  <p:stCondLst>
                                    <p:cond delay="0"/>
                                  </p:stCondLst>
                                  <p:childTnLst>
                                    <p:animMotion origin="layout" path="M 0 0 L 0 0 C 0.05781 -0.00602 0.09401 -0.00996 0.1651 -0.01019 C 0.2168 -0.01042 0.26849 -0.00602 0.32018 -0.00394 L 0.35039 -0.00649 L 0.42982 -0.00649 " pathEditMode="relative" ptsTypes="AAAAAA">
                                      <p:cBhvr>
                                        <p:cTn id="12" dur="2000" fill="hold"/>
                                        <p:tgtEl>
                                          <p:spTgt spid="10"/>
                                        </p:tgtEl>
                                        <p:attrNameLst>
                                          <p:attrName>ppt_x</p:attrName>
                                          <p:attrName>ppt_y</p:attrName>
                                        </p:attrNameLst>
                                      </p:cBhvr>
                                    </p:animMotion>
                                  </p:childTnLst>
                                </p:cTn>
                              </p:par>
                              <p:par>
                                <p:cTn id="13" presetID="0" presetClass="path" presetSubtype="0" accel="50000" decel="50000" fill="hold" nodeType="withEffect">
                                  <p:stCondLst>
                                    <p:cond delay="0"/>
                                  </p:stCondLst>
                                  <p:childTnLst>
                                    <p:animMotion origin="layout" path="M 0 0 L 0 0 C 0.05781 -0.00602 0.09401 -0.00996 0.1651 -0.01019 C 0.2168 -0.01042 0.26849 -0.00602 0.32018 -0.00394 L 0.35039 -0.00649 L 0.42982 -0.00649 " pathEditMode="relative" ptsTypes="AAAAAA">
                                      <p:cBhvr>
                                        <p:cTn id="14" dur="2000" fill="hold"/>
                                        <p:tgtEl>
                                          <p:spTgt spid="11"/>
                                        </p:tgtEl>
                                        <p:attrNameLst>
                                          <p:attrName>ppt_x</p:attrName>
                                          <p:attrName>ppt_y</p:attrName>
                                        </p:attrNameLst>
                                      </p:cBhvr>
                                    </p:animMotion>
                                  </p:childTnLst>
                                </p:cTn>
                              </p:par>
                              <p:par>
                                <p:cTn id="15" presetID="0" presetClass="path" presetSubtype="0" accel="50000" decel="50000" fill="hold" nodeType="withEffect">
                                  <p:stCondLst>
                                    <p:cond delay="0"/>
                                  </p:stCondLst>
                                  <p:childTnLst>
                                    <p:animMotion origin="layout" path="M 0 0 L 0 0 C 0.05781 -0.00602 0.09401 -0.00996 0.1651 -0.01019 C 0.2168 -0.01042 0.26849 -0.00602 0.32018 -0.00394 L 0.35039 -0.00649 L 0.42982 -0.00649 " pathEditMode="relative" ptsTypes="AAAAAA">
                                      <p:cBhvr>
                                        <p:cTn id="16" dur="2000" fill="hold"/>
                                        <p:tgtEl>
                                          <p:spTgt spid="12"/>
                                        </p:tgtEl>
                                        <p:attrNameLst>
                                          <p:attrName>ppt_x</p:attrName>
                                          <p:attrName>ppt_y</p:attrName>
                                        </p:attrNameLst>
                                      </p:cBhvr>
                                    </p:animMotion>
                                  </p:childTnLst>
                                </p:cTn>
                              </p:par>
                              <p:par>
                                <p:cTn id="17" presetID="0" presetClass="path" presetSubtype="0" accel="50000" decel="50000" fill="hold" nodeType="withEffect">
                                  <p:stCondLst>
                                    <p:cond delay="0"/>
                                  </p:stCondLst>
                                  <p:childTnLst>
                                    <p:animMotion origin="layout" path="M 0 0 L 0 0 C 0.05781 -0.00602 0.09401 -0.00996 0.1651 -0.01019 C 0.2168 -0.01042 0.26849 -0.00602 0.32018 -0.00394 L 0.35039 -0.00649 L 0.42982 -0.00649 " pathEditMode="relative" ptsTypes="AAAAAA">
                                      <p:cBhvr>
                                        <p:cTn id="18" dur="2000" fill="hold"/>
                                        <p:tgtEl>
                                          <p:spTgt spid="15"/>
                                        </p:tgtEl>
                                        <p:attrNameLst>
                                          <p:attrName>ppt_x</p:attrName>
                                          <p:attrName>ppt_y</p:attrName>
                                        </p:attrNameLst>
                                      </p:cBhvr>
                                    </p:animMotion>
                                  </p:childTnLst>
                                </p:cTn>
                              </p:par>
                              <p:par>
                                <p:cTn id="19" presetID="0" presetClass="path" presetSubtype="0" accel="50000" decel="50000" fill="hold" nodeType="withEffect">
                                  <p:stCondLst>
                                    <p:cond delay="0"/>
                                  </p:stCondLst>
                                  <p:childTnLst>
                                    <p:animMotion origin="layout" path="M 0 0 L 0 0 C 0.05781 -0.00602 0.09401 -0.00996 0.1651 -0.01019 C 0.2168 -0.01042 0.26849 -0.00602 0.32018 -0.00394 L 0.35039 -0.00649 L 0.42982 -0.00649 " pathEditMode="relative" ptsTypes="AAAAAA">
                                      <p:cBhvr>
                                        <p:cTn id="20" dur="2000" fill="hold"/>
                                        <p:tgtEl>
                                          <p:spTgt spid="17"/>
                                        </p:tgtEl>
                                        <p:attrNameLst>
                                          <p:attrName>ppt_x</p:attrName>
                                          <p:attrName>ppt_y</p:attrName>
                                        </p:attrNameLst>
                                      </p:cBhvr>
                                    </p:animMotion>
                                  </p:childTnLst>
                                </p:cTn>
                              </p:par>
                              <p:par>
                                <p:cTn id="21" presetID="0" presetClass="path" presetSubtype="0" accel="50000" decel="50000" fill="hold" grpId="0" nodeType="withEffect">
                                  <p:stCondLst>
                                    <p:cond delay="0"/>
                                  </p:stCondLst>
                                  <p:childTnLst>
                                    <p:animMotion origin="layout" path="M 0 0 L 0 0 C 0.05781 -0.00602 0.09401 -0.00996 0.1651 -0.01019 C 0.2168 -0.01042 0.26849 -0.00602 0.32018 -0.00394 L 0.35039 -0.00649 L 0.42982 -0.00649 " pathEditMode="relative" ptsTypes="AAAAAA">
                                      <p:cBhvr>
                                        <p:cTn id="22" dur="2000" fill="hold"/>
                                        <p:tgtEl>
                                          <p:spTgt spid="18"/>
                                        </p:tgtEl>
                                        <p:attrNameLst>
                                          <p:attrName>ppt_x</p:attrName>
                                          <p:attrName>ppt_y</p:attrName>
                                        </p:attrNameLst>
                                      </p:cBhvr>
                                    </p:animMotion>
                                  </p:childTnLst>
                                </p:cTn>
                              </p:par>
                              <p:par>
                                <p:cTn id="23" presetID="0" presetClass="path" presetSubtype="0" accel="50000" decel="50000" fill="hold" grpId="0" nodeType="withEffect">
                                  <p:stCondLst>
                                    <p:cond delay="0"/>
                                  </p:stCondLst>
                                  <p:childTnLst>
                                    <p:animMotion origin="layout" path="M 0 0 L 0 0 C 0.05781 -0.00602 0.09401 -0.00996 0.1651 -0.01019 C 0.2168 -0.01042 0.26849 -0.00602 0.32018 -0.00394 L 0.35039 -0.00649 L 0.42982 -0.00649 " pathEditMode="relative" ptsTypes="AAAAAA">
                                      <p:cBhvr>
                                        <p:cTn id="24" dur="2000" fill="hold"/>
                                        <p:tgtEl>
                                          <p:spTgt spid="2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8"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FEEFA9-5410-43A9-80E9-712966D7628A}"/>
              </a:ext>
            </a:extLst>
          </p:cNvPr>
          <p:cNvSpPr>
            <a:spLocks noGrp="1"/>
          </p:cNvSpPr>
          <p:nvPr>
            <p:ph type="title"/>
          </p:nvPr>
        </p:nvSpPr>
        <p:spPr/>
        <p:txBody>
          <a:bodyPr/>
          <a:lstStyle/>
          <a:p>
            <a:endParaRPr lang="en-US"/>
          </a:p>
        </p:txBody>
      </p:sp>
      <p:sp>
        <p:nvSpPr>
          <p:cNvPr id="3" name="内容占位符 2">
            <a:extLst>
              <a:ext uri="{FF2B5EF4-FFF2-40B4-BE49-F238E27FC236}">
                <a16:creationId xmlns:a16="http://schemas.microsoft.com/office/drawing/2014/main" id="{4BDAEE67-FD38-4283-92C3-6898269914CB}"/>
              </a:ext>
            </a:extLst>
          </p:cNvPr>
          <p:cNvSpPr>
            <a:spLocks noGrp="1"/>
          </p:cNvSpPr>
          <p:nvPr>
            <p:ph idx="1"/>
          </p:nvPr>
        </p:nvSpPr>
        <p:spPr/>
        <p:txBody>
          <a:bodyPr/>
          <a:lstStyle/>
          <a:p>
            <a:r>
              <a:rPr lang="zh-CN" altLang="en-US" dirty="0"/>
              <a:t>空间调度算法控制升降平台的移动，要做到两个平台之间严丝合缝</a:t>
            </a:r>
            <a:endParaRPr lang="en-US" altLang="zh-CN" dirty="0"/>
          </a:p>
          <a:p>
            <a:r>
              <a:rPr lang="en-US" dirty="0"/>
              <a:t>The </a:t>
            </a:r>
            <a:r>
              <a:rPr lang="en-US" altLang="zh-CN" dirty="0"/>
              <a:t>space</a:t>
            </a:r>
            <a:r>
              <a:rPr lang="en-US" dirty="0"/>
              <a:t> scheduling algorithm controls the movement of the lifting platform to ensure that the two platforms fit together perfectly.</a:t>
            </a:r>
          </a:p>
        </p:txBody>
      </p:sp>
    </p:spTree>
    <p:extLst>
      <p:ext uri="{BB962C8B-B14F-4D97-AF65-F5344CB8AC3E}">
        <p14:creationId xmlns:p14="http://schemas.microsoft.com/office/powerpoint/2010/main" val="2720212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8BE1F0D1-2AEB-4A8C-92EE-F623A50D1EA6}"/>
              </a:ext>
            </a:extLst>
          </p:cNvPr>
          <p:cNvSpPr/>
          <p:nvPr/>
        </p:nvSpPr>
        <p:spPr>
          <a:xfrm>
            <a:off x="2108200" y="1122363"/>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矩形 5">
            <a:extLst>
              <a:ext uri="{FF2B5EF4-FFF2-40B4-BE49-F238E27FC236}">
                <a16:creationId xmlns:a16="http://schemas.microsoft.com/office/drawing/2014/main" id="{ADDE04F1-D3D5-4320-B432-562CD08A6B62}"/>
              </a:ext>
            </a:extLst>
          </p:cNvPr>
          <p:cNvSpPr/>
          <p:nvPr/>
        </p:nvSpPr>
        <p:spPr>
          <a:xfrm>
            <a:off x="2108200" y="192703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矩形 6">
            <a:extLst>
              <a:ext uri="{FF2B5EF4-FFF2-40B4-BE49-F238E27FC236}">
                <a16:creationId xmlns:a16="http://schemas.microsoft.com/office/drawing/2014/main" id="{D31AA7F6-06E9-4296-A4C5-60F9D1B81D60}"/>
              </a:ext>
            </a:extLst>
          </p:cNvPr>
          <p:cNvSpPr/>
          <p:nvPr/>
        </p:nvSpPr>
        <p:spPr>
          <a:xfrm>
            <a:off x="2108200" y="2731707"/>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矩形 7">
            <a:extLst>
              <a:ext uri="{FF2B5EF4-FFF2-40B4-BE49-F238E27FC236}">
                <a16:creationId xmlns:a16="http://schemas.microsoft.com/office/drawing/2014/main" id="{83D58614-5894-497C-9094-CBA7AE1E08A9}"/>
              </a:ext>
            </a:extLst>
          </p:cNvPr>
          <p:cNvSpPr/>
          <p:nvPr/>
        </p:nvSpPr>
        <p:spPr>
          <a:xfrm>
            <a:off x="2912872" y="1122363"/>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矩形 8">
            <a:extLst>
              <a:ext uri="{FF2B5EF4-FFF2-40B4-BE49-F238E27FC236}">
                <a16:creationId xmlns:a16="http://schemas.microsoft.com/office/drawing/2014/main" id="{C477C342-BF4C-4EE3-8C8F-250EDFE47AEA}"/>
              </a:ext>
            </a:extLst>
          </p:cNvPr>
          <p:cNvSpPr/>
          <p:nvPr/>
        </p:nvSpPr>
        <p:spPr>
          <a:xfrm>
            <a:off x="2912872" y="192703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9">
            <a:extLst>
              <a:ext uri="{FF2B5EF4-FFF2-40B4-BE49-F238E27FC236}">
                <a16:creationId xmlns:a16="http://schemas.microsoft.com/office/drawing/2014/main" id="{18E950DA-06FB-4889-8D16-5E727706BD6C}"/>
              </a:ext>
            </a:extLst>
          </p:cNvPr>
          <p:cNvSpPr/>
          <p:nvPr/>
        </p:nvSpPr>
        <p:spPr>
          <a:xfrm>
            <a:off x="2912872" y="2731707"/>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矩形 10">
            <a:extLst>
              <a:ext uri="{FF2B5EF4-FFF2-40B4-BE49-F238E27FC236}">
                <a16:creationId xmlns:a16="http://schemas.microsoft.com/office/drawing/2014/main" id="{0E41EDFE-CBCE-411B-8A63-2ABB9B88AD5D}"/>
              </a:ext>
            </a:extLst>
          </p:cNvPr>
          <p:cNvSpPr/>
          <p:nvPr/>
        </p:nvSpPr>
        <p:spPr>
          <a:xfrm>
            <a:off x="3717544" y="1122363"/>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矩形 11">
            <a:extLst>
              <a:ext uri="{FF2B5EF4-FFF2-40B4-BE49-F238E27FC236}">
                <a16:creationId xmlns:a16="http://schemas.microsoft.com/office/drawing/2014/main" id="{4942E4FB-9E65-4704-B960-21B6D545B247}"/>
              </a:ext>
            </a:extLst>
          </p:cNvPr>
          <p:cNvSpPr/>
          <p:nvPr/>
        </p:nvSpPr>
        <p:spPr>
          <a:xfrm>
            <a:off x="3717544" y="192703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矩形 12">
            <a:extLst>
              <a:ext uri="{FF2B5EF4-FFF2-40B4-BE49-F238E27FC236}">
                <a16:creationId xmlns:a16="http://schemas.microsoft.com/office/drawing/2014/main" id="{CAC1C415-901C-4FA6-B221-18360B593A0E}"/>
              </a:ext>
            </a:extLst>
          </p:cNvPr>
          <p:cNvSpPr/>
          <p:nvPr/>
        </p:nvSpPr>
        <p:spPr>
          <a:xfrm>
            <a:off x="3717544" y="2731707"/>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椭圆 14">
            <a:extLst>
              <a:ext uri="{FF2B5EF4-FFF2-40B4-BE49-F238E27FC236}">
                <a16:creationId xmlns:a16="http://schemas.microsoft.com/office/drawing/2014/main" id="{4DF29A05-0D03-4500-AB99-D3A3685DE1A6}"/>
              </a:ext>
            </a:extLst>
          </p:cNvPr>
          <p:cNvSpPr/>
          <p:nvPr/>
        </p:nvSpPr>
        <p:spPr>
          <a:xfrm>
            <a:off x="3114040" y="2140723"/>
            <a:ext cx="201168" cy="20116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等腰三角形 17">
            <a:extLst>
              <a:ext uri="{FF2B5EF4-FFF2-40B4-BE49-F238E27FC236}">
                <a16:creationId xmlns:a16="http://schemas.microsoft.com/office/drawing/2014/main" id="{3709547B-AC82-4C11-AA0D-6A93E3F36B77}"/>
              </a:ext>
            </a:extLst>
          </p:cNvPr>
          <p:cNvSpPr/>
          <p:nvPr/>
        </p:nvSpPr>
        <p:spPr>
          <a:xfrm>
            <a:off x="3134190" y="2283334"/>
            <a:ext cx="181018" cy="234685"/>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椭圆 18">
            <a:extLst>
              <a:ext uri="{FF2B5EF4-FFF2-40B4-BE49-F238E27FC236}">
                <a16:creationId xmlns:a16="http://schemas.microsoft.com/office/drawing/2014/main" id="{397683BE-EC11-4FA0-B406-124219C28788}"/>
              </a:ext>
            </a:extLst>
          </p:cNvPr>
          <p:cNvSpPr/>
          <p:nvPr/>
        </p:nvSpPr>
        <p:spPr>
          <a:xfrm>
            <a:off x="9116907" y="269590"/>
            <a:ext cx="201168" cy="20116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等腰三角形 19">
            <a:extLst>
              <a:ext uri="{FF2B5EF4-FFF2-40B4-BE49-F238E27FC236}">
                <a16:creationId xmlns:a16="http://schemas.microsoft.com/office/drawing/2014/main" id="{4AE4E8F8-9D5C-45C1-A832-E1560F4F4E74}"/>
              </a:ext>
            </a:extLst>
          </p:cNvPr>
          <p:cNvSpPr/>
          <p:nvPr/>
        </p:nvSpPr>
        <p:spPr>
          <a:xfrm>
            <a:off x="9137057" y="412201"/>
            <a:ext cx="181018" cy="234685"/>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文本框 20">
            <a:extLst>
              <a:ext uri="{FF2B5EF4-FFF2-40B4-BE49-F238E27FC236}">
                <a16:creationId xmlns:a16="http://schemas.microsoft.com/office/drawing/2014/main" id="{7053F16C-3A09-4D31-BDBD-0C4D6BE80770}"/>
              </a:ext>
            </a:extLst>
          </p:cNvPr>
          <p:cNvSpPr txBox="1"/>
          <p:nvPr/>
        </p:nvSpPr>
        <p:spPr>
          <a:xfrm>
            <a:off x="9762065" y="147592"/>
            <a:ext cx="2167467" cy="646331"/>
          </a:xfrm>
          <a:prstGeom prst="rect">
            <a:avLst/>
          </a:prstGeom>
          <a:noFill/>
        </p:spPr>
        <p:txBody>
          <a:bodyPr wrap="square" rtlCol="0">
            <a:spAutoFit/>
          </a:bodyPr>
          <a:lstStyle/>
          <a:p>
            <a:r>
              <a:rPr lang="en-US" dirty="0"/>
              <a:t>User</a:t>
            </a:r>
          </a:p>
          <a:p>
            <a:r>
              <a:rPr lang="zh-CN" altLang="en-US" dirty="0"/>
              <a:t>用户</a:t>
            </a:r>
            <a:endParaRPr lang="en-US" dirty="0"/>
          </a:p>
        </p:txBody>
      </p:sp>
      <p:sp>
        <p:nvSpPr>
          <p:cNvPr id="22" name="矩形 21">
            <a:extLst>
              <a:ext uri="{FF2B5EF4-FFF2-40B4-BE49-F238E27FC236}">
                <a16:creationId xmlns:a16="http://schemas.microsoft.com/office/drawing/2014/main" id="{B8BC0785-F9DA-4D72-A5A5-FA16279E3531}"/>
              </a:ext>
            </a:extLst>
          </p:cNvPr>
          <p:cNvSpPr/>
          <p:nvPr/>
        </p:nvSpPr>
        <p:spPr>
          <a:xfrm>
            <a:off x="8815155" y="927629"/>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22">
            <a:extLst>
              <a:ext uri="{FF2B5EF4-FFF2-40B4-BE49-F238E27FC236}">
                <a16:creationId xmlns:a16="http://schemas.microsoft.com/office/drawing/2014/main" id="{C14BB636-1140-4F07-8546-D1FCA885B46E}"/>
              </a:ext>
            </a:extLst>
          </p:cNvPr>
          <p:cNvSpPr txBox="1"/>
          <p:nvPr/>
        </p:nvSpPr>
        <p:spPr>
          <a:xfrm>
            <a:off x="9762065" y="1006799"/>
            <a:ext cx="2167467" cy="646331"/>
          </a:xfrm>
          <a:prstGeom prst="rect">
            <a:avLst/>
          </a:prstGeom>
          <a:noFill/>
        </p:spPr>
        <p:txBody>
          <a:bodyPr wrap="square" rtlCol="0">
            <a:spAutoFit/>
          </a:bodyPr>
          <a:lstStyle/>
          <a:p>
            <a:r>
              <a:rPr lang="en-US" dirty="0"/>
              <a:t>Liftable surface</a:t>
            </a:r>
          </a:p>
          <a:p>
            <a:r>
              <a:rPr lang="zh-CN" altLang="en-US" dirty="0"/>
              <a:t>可升降平面</a:t>
            </a:r>
            <a:endParaRPr lang="en-US" dirty="0"/>
          </a:p>
        </p:txBody>
      </p:sp>
      <p:sp>
        <p:nvSpPr>
          <p:cNvPr id="2" name="椭圆 1">
            <a:extLst>
              <a:ext uri="{FF2B5EF4-FFF2-40B4-BE49-F238E27FC236}">
                <a16:creationId xmlns:a16="http://schemas.microsoft.com/office/drawing/2014/main" id="{09905232-C9C0-442F-8F56-85A965983771}"/>
              </a:ext>
            </a:extLst>
          </p:cNvPr>
          <p:cNvSpPr/>
          <p:nvPr/>
        </p:nvSpPr>
        <p:spPr>
          <a:xfrm>
            <a:off x="8155732" y="2132758"/>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椭圆 23">
            <a:extLst>
              <a:ext uri="{FF2B5EF4-FFF2-40B4-BE49-F238E27FC236}">
                <a16:creationId xmlns:a16="http://schemas.microsoft.com/office/drawing/2014/main" id="{EBA25898-F6B6-4B3B-B834-C436BF795194}"/>
              </a:ext>
            </a:extLst>
          </p:cNvPr>
          <p:cNvSpPr/>
          <p:nvPr/>
        </p:nvSpPr>
        <p:spPr>
          <a:xfrm>
            <a:off x="8155732" y="3129909"/>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椭圆 24">
            <a:extLst>
              <a:ext uri="{FF2B5EF4-FFF2-40B4-BE49-F238E27FC236}">
                <a16:creationId xmlns:a16="http://schemas.microsoft.com/office/drawing/2014/main" id="{45650114-075A-4F6A-9244-FCAF2D9A9154}"/>
              </a:ext>
            </a:extLst>
          </p:cNvPr>
          <p:cNvSpPr/>
          <p:nvPr/>
        </p:nvSpPr>
        <p:spPr>
          <a:xfrm>
            <a:off x="9426768" y="2132758"/>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椭圆 25">
            <a:extLst>
              <a:ext uri="{FF2B5EF4-FFF2-40B4-BE49-F238E27FC236}">
                <a16:creationId xmlns:a16="http://schemas.microsoft.com/office/drawing/2014/main" id="{9F8ABEA9-369A-4A4C-AEA3-A1B50015F4DA}"/>
              </a:ext>
            </a:extLst>
          </p:cNvPr>
          <p:cNvSpPr/>
          <p:nvPr/>
        </p:nvSpPr>
        <p:spPr>
          <a:xfrm>
            <a:off x="9426768" y="3129909"/>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直接连接符 26">
            <a:extLst>
              <a:ext uri="{FF2B5EF4-FFF2-40B4-BE49-F238E27FC236}">
                <a16:creationId xmlns:a16="http://schemas.microsoft.com/office/drawing/2014/main" id="{6DA67B49-BD61-4BF8-A947-3F7190079B69}"/>
              </a:ext>
            </a:extLst>
          </p:cNvPr>
          <p:cNvCxnSpPr>
            <a:stCxn id="2" idx="5"/>
            <a:endCxn id="26" idx="2"/>
          </p:cNvCxnSpPr>
          <p:nvPr/>
        </p:nvCxnSpPr>
        <p:spPr>
          <a:xfrm>
            <a:off x="8545977" y="2523003"/>
            <a:ext cx="880791" cy="8355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74C5F357-B048-488C-BC06-BCF8EA0AC487}"/>
              </a:ext>
            </a:extLst>
          </p:cNvPr>
          <p:cNvCxnSpPr>
            <a:cxnSpLocks/>
            <a:stCxn id="25" idx="3"/>
            <a:endCxn id="24" idx="6"/>
          </p:cNvCxnSpPr>
          <p:nvPr/>
        </p:nvCxnSpPr>
        <p:spPr>
          <a:xfrm flipH="1">
            <a:off x="8612932" y="2523003"/>
            <a:ext cx="880791" cy="835506"/>
          </a:xfrm>
          <a:prstGeom prst="line">
            <a:avLst/>
          </a:prstGeom>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2E539D7B-616B-4081-BDE8-487734A2EF39}"/>
              </a:ext>
            </a:extLst>
          </p:cNvPr>
          <p:cNvSpPr/>
          <p:nvPr/>
        </p:nvSpPr>
        <p:spPr>
          <a:xfrm>
            <a:off x="8815155" y="2492671"/>
            <a:ext cx="457200" cy="8658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文本框 39">
            <a:extLst>
              <a:ext uri="{FF2B5EF4-FFF2-40B4-BE49-F238E27FC236}">
                <a16:creationId xmlns:a16="http://schemas.microsoft.com/office/drawing/2014/main" id="{91157C42-8023-49CD-AD2D-4B25D66A81EF}"/>
              </a:ext>
            </a:extLst>
          </p:cNvPr>
          <p:cNvSpPr txBox="1"/>
          <p:nvPr/>
        </p:nvSpPr>
        <p:spPr>
          <a:xfrm>
            <a:off x="9883968" y="2423255"/>
            <a:ext cx="2167467" cy="646331"/>
          </a:xfrm>
          <a:prstGeom prst="rect">
            <a:avLst/>
          </a:prstGeom>
          <a:noFill/>
        </p:spPr>
        <p:txBody>
          <a:bodyPr wrap="square" rtlCol="0">
            <a:spAutoFit/>
          </a:bodyPr>
          <a:lstStyle/>
          <a:p>
            <a:r>
              <a:rPr lang="en-US" altLang="zh-CN" dirty="0"/>
              <a:t>Drones</a:t>
            </a:r>
          </a:p>
          <a:p>
            <a:r>
              <a:rPr lang="zh-CN" altLang="en-US" dirty="0"/>
              <a:t>无人机</a:t>
            </a:r>
            <a:endParaRPr lang="en-US" dirty="0"/>
          </a:p>
        </p:txBody>
      </p:sp>
      <p:cxnSp>
        <p:nvCxnSpPr>
          <p:cNvPr id="45" name="直接连接符 44">
            <a:extLst>
              <a:ext uri="{FF2B5EF4-FFF2-40B4-BE49-F238E27FC236}">
                <a16:creationId xmlns:a16="http://schemas.microsoft.com/office/drawing/2014/main" id="{5B80A720-3D18-41A7-B4AC-4D2912943962}"/>
              </a:ext>
            </a:extLst>
          </p:cNvPr>
          <p:cNvCxnSpPr>
            <a:stCxn id="32" idx="2"/>
          </p:cNvCxnSpPr>
          <p:nvPr/>
        </p:nvCxnSpPr>
        <p:spPr>
          <a:xfrm flipH="1">
            <a:off x="8880231" y="3358509"/>
            <a:ext cx="163524" cy="598029"/>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2EBEC9BF-84EC-4754-B94C-8A540A215973}"/>
              </a:ext>
            </a:extLst>
          </p:cNvPr>
          <p:cNvCxnSpPr>
            <a:cxnSpLocks/>
            <a:endCxn id="32" idx="2"/>
          </p:cNvCxnSpPr>
          <p:nvPr/>
        </p:nvCxnSpPr>
        <p:spPr>
          <a:xfrm flipH="1" flipV="1">
            <a:off x="9043755" y="3358509"/>
            <a:ext cx="202223" cy="598029"/>
          </a:xfrm>
          <a:prstGeom prst="line">
            <a:avLst/>
          </a:prstGeom>
        </p:spPr>
        <p:style>
          <a:lnRef idx="1">
            <a:schemeClr val="accent1"/>
          </a:lnRef>
          <a:fillRef idx="0">
            <a:schemeClr val="accent1"/>
          </a:fillRef>
          <a:effectRef idx="0">
            <a:schemeClr val="accent1"/>
          </a:effectRef>
          <a:fontRef idx="minor">
            <a:schemeClr val="tx1"/>
          </a:fontRef>
        </p:style>
      </p:cxnSp>
      <p:sp>
        <p:nvSpPr>
          <p:cNvPr id="50" name="椭圆 49">
            <a:extLst>
              <a:ext uri="{FF2B5EF4-FFF2-40B4-BE49-F238E27FC236}">
                <a16:creationId xmlns:a16="http://schemas.microsoft.com/office/drawing/2014/main" id="{C09F8528-D5AF-401B-8DC1-D44D12A2C575}"/>
              </a:ext>
            </a:extLst>
          </p:cNvPr>
          <p:cNvSpPr/>
          <p:nvPr/>
        </p:nvSpPr>
        <p:spPr>
          <a:xfrm>
            <a:off x="8802833" y="3842238"/>
            <a:ext cx="502920" cy="51874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1" name="文本框 50">
            <a:extLst>
              <a:ext uri="{FF2B5EF4-FFF2-40B4-BE49-F238E27FC236}">
                <a16:creationId xmlns:a16="http://schemas.microsoft.com/office/drawing/2014/main" id="{0D2DA2FB-C546-4016-9A3C-26864A91BD53}"/>
              </a:ext>
            </a:extLst>
          </p:cNvPr>
          <p:cNvSpPr txBox="1"/>
          <p:nvPr/>
        </p:nvSpPr>
        <p:spPr>
          <a:xfrm>
            <a:off x="1150587" y="4607800"/>
            <a:ext cx="10648690" cy="1200329"/>
          </a:xfrm>
          <a:prstGeom prst="rect">
            <a:avLst/>
          </a:prstGeom>
          <a:noFill/>
        </p:spPr>
        <p:txBody>
          <a:bodyPr wrap="square" rtlCol="0">
            <a:spAutoFit/>
          </a:bodyPr>
          <a:lstStyle/>
          <a:p>
            <a:r>
              <a:rPr lang="en-US" altLang="zh-CN" dirty="0"/>
              <a:t>When the player moves, the surrounding game object will be automatically filled with the player as the center.</a:t>
            </a:r>
          </a:p>
          <a:p>
            <a:r>
              <a:rPr lang="zh-CN" altLang="en-US" dirty="0"/>
              <a:t>当玩家移动后，以玩家为中心将周围的游戏物体自动填补上</a:t>
            </a:r>
            <a:endParaRPr lang="en-US" altLang="zh-CN" dirty="0"/>
          </a:p>
          <a:p>
            <a:r>
              <a:rPr lang="en-US" altLang="zh-CN" dirty="0"/>
              <a:t>This is the 3D drones scheduling algorithm</a:t>
            </a:r>
          </a:p>
          <a:p>
            <a:r>
              <a:rPr lang="zh-CN" altLang="en-US" dirty="0"/>
              <a:t>这就是无人机调度算法</a:t>
            </a:r>
            <a:endParaRPr lang="en-US" dirty="0"/>
          </a:p>
        </p:txBody>
      </p:sp>
    </p:spTree>
    <p:extLst>
      <p:ext uri="{BB962C8B-B14F-4D97-AF65-F5344CB8AC3E}">
        <p14:creationId xmlns:p14="http://schemas.microsoft.com/office/powerpoint/2010/main" val="2168106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8BE1F0D1-2AEB-4A8C-92EE-F623A50D1EA6}"/>
              </a:ext>
            </a:extLst>
          </p:cNvPr>
          <p:cNvSpPr/>
          <p:nvPr/>
        </p:nvSpPr>
        <p:spPr>
          <a:xfrm>
            <a:off x="2108200" y="1122363"/>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矩形 5">
            <a:extLst>
              <a:ext uri="{FF2B5EF4-FFF2-40B4-BE49-F238E27FC236}">
                <a16:creationId xmlns:a16="http://schemas.microsoft.com/office/drawing/2014/main" id="{ADDE04F1-D3D5-4320-B432-562CD08A6B62}"/>
              </a:ext>
            </a:extLst>
          </p:cNvPr>
          <p:cNvSpPr/>
          <p:nvPr/>
        </p:nvSpPr>
        <p:spPr>
          <a:xfrm>
            <a:off x="2108200" y="192703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矩形 6">
            <a:extLst>
              <a:ext uri="{FF2B5EF4-FFF2-40B4-BE49-F238E27FC236}">
                <a16:creationId xmlns:a16="http://schemas.microsoft.com/office/drawing/2014/main" id="{D31AA7F6-06E9-4296-A4C5-60F9D1B81D60}"/>
              </a:ext>
            </a:extLst>
          </p:cNvPr>
          <p:cNvSpPr/>
          <p:nvPr/>
        </p:nvSpPr>
        <p:spPr>
          <a:xfrm>
            <a:off x="2108200" y="2731707"/>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矩形 7">
            <a:extLst>
              <a:ext uri="{FF2B5EF4-FFF2-40B4-BE49-F238E27FC236}">
                <a16:creationId xmlns:a16="http://schemas.microsoft.com/office/drawing/2014/main" id="{83D58614-5894-497C-9094-CBA7AE1E08A9}"/>
              </a:ext>
            </a:extLst>
          </p:cNvPr>
          <p:cNvSpPr/>
          <p:nvPr/>
        </p:nvSpPr>
        <p:spPr>
          <a:xfrm>
            <a:off x="2912872" y="1122363"/>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矩形 8">
            <a:extLst>
              <a:ext uri="{FF2B5EF4-FFF2-40B4-BE49-F238E27FC236}">
                <a16:creationId xmlns:a16="http://schemas.microsoft.com/office/drawing/2014/main" id="{C477C342-BF4C-4EE3-8C8F-250EDFE47AEA}"/>
              </a:ext>
            </a:extLst>
          </p:cNvPr>
          <p:cNvSpPr/>
          <p:nvPr/>
        </p:nvSpPr>
        <p:spPr>
          <a:xfrm>
            <a:off x="2912872" y="192703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9">
            <a:extLst>
              <a:ext uri="{FF2B5EF4-FFF2-40B4-BE49-F238E27FC236}">
                <a16:creationId xmlns:a16="http://schemas.microsoft.com/office/drawing/2014/main" id="{18E950DA-06FB-4889-8D16-5E727706BD6C}"/>
              </a:ext>
            </a:extLst>
          </p:cNvPr>
          <p:cNvSpPr/>
          <p:nvPr/>
        </p:nvSpPr>
        <p:spPr>
          <a:xfrm>
            <a:off x="2912872" y="2731707"/>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矩形 10">
            <a:extLst>
              <a:ext uri="{FF2B5EF4-FFF2-40B4-BE49-F238E27FC236}">
                <a16:creationId xmlns:a16="http://schemas.microsoft.com/office/drawing/2014/main" id="{0E41EDFE-CBCE-411B-8A63-2ABB9B88AD5D}"/>
              </a:ext>
            </a:extLst>
          </p:cNvPr>
          <p:cNvSpPr/>
          <p:nvPr/>
        </p:nvSpPr>
        <p:spPr>
          <a:xfrm>
            <a:off x="3717544" y="1122363"/>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矩形 11">
            <a:extLst>
              <a:ext uri="{FF2B5EF4-FFF2-40B4-BE49-F238E27FC236}">
                <a16:creationId xmlns:a16="http://schemas.microsoft.com/office/drawing/2014/main" id="{4942E4FB-9E65-4704-B960-21B6D545B247}"/>
              </a:ext>
            </a:extLst>
          </p:cNvPr>
          <p:cNvSpPr/>
          <p:nvPr/>
        </p:nvSpPr>
        <p:spPr>
          <a:xfrm>
            <a:off x="3717544" y="192703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矩形 12">
            <a:extLst>
              <a:ext uri="{FF2B5EF4-FFF2-40B4-BE49-F238E27FC236}">
                <a16:creationId xmlns:a16="http://schemas.microsoft.com/office/drawing/2014/main" id="{CAC1C415-901C-4FA6-B221-18360B593A0E}"/>
              </a:ext>
            </a:extLst>
          </p:cNvPr>
          <p:cNvSpPr/>
          <p:nvPr/>
        </p:nvSpPr>
        <p:spPr>
          <a:xfrm>
            <a:off x="3717544" y="2731707"/>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椭圆 14">
            <a:extLst>
              <a:ext uri="{FF2B5EF4-FFF2-40B4-BE49-F238E27FC236}">
                <a16:creationId xmlns:a16="http://schemas.microsoft.com/office/drawing/2014/main" id="{4DF29A05-0D03-4500-AB99-D3A3685DE1A6}"/>
              </a:ext>
            </a:extLst>
          </p:cNvPr>
          <p:cNvSpPr/>
          <p:nvPr/>
        </p:nvSpPr>
        <p:spPr>
          <a:xfrm>
            <a:off x="3114040" y="2140723"/>
            <a:ext cx="201168" cy="20116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等腰三角形 17">
            <a:extLst>
              <a:ext uri="{FF2B5EF4-FFF2-40B4-BE49-F238E27FC236}">
                <a16:creationId xmlns:a16="http://schemas.microsoft.com/office/drawing/2014/main" id="{3709547B-AC82-4C11-AA0D-6A93E3F36B77}"/>
              </a:ext>
            </a:extLst>
          </p:cNvPr>
          <p:cNvSpPr/>
          <p:nvPr/>
        </p:nvSpPr>
        <p:spPr>
          <a:xfrm>
            <a:off x="3134190" y="2283334"/>
            <a:ext cx="181018" cy="234685"/>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椭圆 18">
            <a:extLst>
              <a:ext uri="{FF2B5EF4-FFF2-40B4-BE49-F238E27FC236}">
                <a16:creationId xmlns:a16="http://schemas.microsoft.com/office/drawing/2014/main" id="{397683BE-EC11-4FA0-B406-124219C28788}"/>
              </a:ext>
            </a:extLst>
          </p:cNvPr>
          <p:cNvSpPr/>
          <p:nvPr/>
        </p:nvSpPr>
        <p:spPr>
          <a:xfrm>
            <a:off x="9116907" y="269590"/>
            <a:ext cx="201168" cy="20116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等腰三角形 19">
            <a:extLst>
              <a:ext uri="{FF2B5EF4-FFF2-40B4-BE49-F238E27FC236}">
                <a16:creationId xmlns:a16="http://schemas.microsoft.com/office/drawing/2014/main" id="{4AE4E8F8-9D5C-45C1-A832-E1560F4F4E74}"/>
              </a:ext>
            </a:extLst>
          </p:cNvPr>
          <p:cNvSpPr/>
          <p:nvPr/>
        </p:nvSpPr>
        <p:spPr>
          <a:xfrm>
            <a:off x="9137057" y="412201"/>
            <a:ext cx="181018" cy="234685"/>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文本框 20">
            <a:extLst>
              <a:ext uri="{FF2B5EF4-FFF2-40B4-BE49-F238E27FC236}">
                <a16:creationId xmlns:a16="http://schemas.microsoft.com/office/drawing/2014/main" id="{7053F16C-3A09-4D31-BDBD-0C4D6BE80770}"/>
              </a:ext>
            </a:extLst>
          </p:cNvPr>
          <p:cNvSpPr txBox="1"/>
          <p:nvPr/>
        </p:nvSpPr>
        <p:spPr>
          <a:xfrm>
            <a:off x="9762065" y="147592"/>
            <a:ext cx="2167467" cy="646331"/>
          </a:xfrm>
          <a:prstGeom prst="rect">
            <a:avLst/>
          </a:prstGeom>
          <a:noFill/>
        </p:spPr>
        <p:txBody>
          <a:bodyPr wrap="square" rtlCol="0">
            <a:spAutoFit/>
          </a:bodyPr>
          <a:lstStyle/>
          <a:p>
            <a:r>
              <a:rPr lang="en-US" dirty="0"/>
              <a:t>User</a:t>
            </a:r>
          </a:p>
          <a:p>
            <a:r>
              <a:rPr lang="zh-CN" altLang="en-US" dirty="0"/>
              <a:t>用户</a:t>
            </a:r>
            <a:endParaRPr lang="en-US" dirty="0"/>
          </a:p>
        </p:txBody>
      </p:sp>
      <p:sp>
        <p:nvSpPr>
          <p:cNvPr id="22" name="矩形 21">
            <a:extLst>
              <a:ext uri="{FF2B5EF4-FFF2-40B4-BE49-F238E27FC236}">
                <a16:creationId xmlns:a16="http://schemas.microsoft.com/office/drawing/2014/main" id="{B8BC0785-F9DA-4D72-A5A5-FA16279E3531}"/>
              </a:ext>
            </a:extLst>
          </p:cNvPr>
          <p:cNvSpPr/>
          <p:nvPr/>
        </p:nvSpPr>
        <p:spPr>
          <a:xfrm>
            <a:off x="8815155" y="927629"/>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22">
            <a:extLst>
              <a:ext uri="{FF2B5EF4-FFF2-40B4-BE49-F238E27FC236}">
                <a16:creationId xmlns:a16="http://schemas.microsoft.com/office/drawing/2014/main" id="{C14BB636-1140-4F07-8546-D1FCA885B46E}"/>
              </a:ext>
            </a:extLst>
          </p:cNvPr>
          <p:cNvSpPr txBox="1"/>
          <p:nvPr/>
        </p:nvSpPr>
        <p:spPr>
          <a:xfrm>
            <a:off x="9762065" y="1006799"/>
            <a:ext cx="2167467" cy="646331"/>
          </a:xfrm>
          <a:prstGeom prst="rect">
            <a:avLst/>
          </a:prstGeom>
          <a:noFill/>
        </p:spPr>
        <p:txBody>
          <a:bodyPr wrap="square" rtlCol="0">
            <a:spAutoFit/>
          </a:bodyPr>
          <a:lstStyle/>
          <a:p>
            <a:r>
              <a:rPr lang="en-US" dirty="0"/>
              <a:t>Liftable surface</a:t>
            </a:r>
          </a:p>
          <a:p>
            <a:r>
              <a:rPr lang="zh-CN" altLang="en-US" dirty="0"/>
              <a:t>可升降平面</a:t>
            </a:r>
            <a:endParaRPr lang="en-US" dirty="0"/>
          </a:p>
        </p:txBody>
      </p:sp>
      <p:sp>
        <p:nvSpPr>
          <p:cNvPr id="2" name="椭圆 1">
            <a:extLst>
              <a:ext uri="{FF2B5EF4-FFF2-40B4-BE49-F238E27FC236}">
                <a16:creationId xmlns:a16="http://schemas.microsoft.com/office/drawing/2014/main" id="{09905232-C9C0-442F-8F56-85A965983771}"/>
              </a:ext>
            </a:extLst>
          </p:cNvPr>
          <p:cNvSpPr/>
          <p:nvPr/>
        </p:nvSpPr>
        <p:spPr>
          <a:xfrm>
            <a:off x="8155732" y="2132758"/>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椭圆 23">
            <a:extLst>
              <a:ext uri="{FF2B5EF4-FFF2-40B4-BE49-F238E27FC236}">
                <a16:creationId xmlns:a16="http://schemas.microsoft.com/office/drawing/2014/main" id="{EBA25898-F6B6-4B3B-B834-C436BF795194}"/>
              </a:ext>
            </a:extLst>
          </p:cNvPr>
          <p:cNvSpPr/>
          <p:nvPr/>
        </p:nvSpPr>
        <p:spPr>
          <a:xfrm>
            <a:off x="8155732" y="3129909"/>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椭圆 24">
            <a:extLst>
              <a:ext uri="{FF2B5EF4-FFF2-40B4-BE49-F238E27FC236}">
                <a16:creationId xmlns:a16="http://schemas.microsoft.com/office/drawing/2014/main" id="{45650114-075A-4F6A-9244-FCAF2D9A9154}"/>
              </a:ext>
            </a:extLst>
          </p:cNvPr>
          <p:cNvSpPr/>
          <p:nvPr/>
        </p:nvSpPr>
        <p:spPr>
          <a:xfrm>
            <a:off x="9426768" y="2132758"/>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椭圆 25">
            <a:extLst>
              <a:ext uri="{FF2B5EF4-FFF2-40B4-BE49-F238E27FC236}">
                <a16:creationId xmlns:a16="http://schemas.microsoft.com/office/drawing/2014/main" id="{9F8ABEA9-369A-4A4C-AEA3-A1B50015F4DA}"/>
              </a:ext>
            </a:extLst>
          </p:cNvPr>
          <p:cNvSpPr/>
          <p:nvPr/>
        </p:nvSpPr>
        <p:spPr>
          <a:xfrm>
            <a:off x="9426768" y="3129909"/>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直接连接符 26">
            <a:extLst>
              <a:ext uri="{FF2B5EF4-FFF2-40B4-BE49-F238E27FC236}">
                <a16:creationId xmlns:a16="http://schemas.microsoft.com/office/drawing/2014/main" id="{6DA67B49-BD61-4BF8-A947-3F7190079B69}"/>
              </a:ext>
            </a:extLst>
          </p:cNvPr>
          <p:cNvCxnSpPr>
            <a:stCxn id="2" idx="5"/>
            <a:endCxn id="26" idx="2"/>
          </p:cNvCxnSpPr>
          <p:nvPr/>
        </p:nvCxnSpPr>
        <p:spPr>
          <a:xfrm>
            <a:off x="8545977" y="2523003"/>
            <a:ext cx="880791" cy="8355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74C5F357-B048-488C-BC06-BCF8EA0AC487}"/>
              </a:ext>
            </a:extLst>
          </p:cNvPr>
          <p:cNvCxnSpPr>
            <a:cxnSpLocks/>
            <a:stCxn id="25" idx="3"/>
            <a:endCxn id="24" idx="6"/>
          </p:cNvCxnSpPr>
          <p:nvPr/>
        </p:nvCxnSpPr>
        <p:spPr>
          <a:xfrm flipH="1">
            <a:off x="8612932" y="2523003"/>
            <a:ext cx="880791" cy="835506"/>
          </a:xfrm>
          <a:prstGeom prst="line">
            <a:avLst/>
          </a:prstGeom>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2E539D7B-616B-4081-BDE8-487734A2EF39}"/>
              </a:ext>
            </a:extLst>
          </p:cNvPr>
          <p:cNvSpPr/>
          <p:nvPr/>
        </p:nvSpPr>
        <p:spPr>
          <a:xfrm>
            <a:off x="8815155" y="2492671"/>
            <a:ext cx="457200" cy="8658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文本框 39">
            <a:extLst>
              <a:ext uri="{FF2B5EF4-FFF2-40B4-BE49-F238E27FC236}">
                <a16:creationId xmlns:a16="http://schemas.microsoft.com/office/drawing/2014/main" id="{91157C42-8023-49CD-AD2D-4B25D66A81EF}"/>
              </a:ext>
            </a:extLst>
          </p:cNvPr>
          <p:cNvSpPr txBox="1"/>
          <p:nvPr/>
        </p:nvSpPr>
        <p:spPr>
          <a:xfrm>
            <a:off x="9883968" y="2423255"/>
            <a:ext cx="2167467" cy="646331"/>
          </a:xfrm>
          <a:prstGeom prst="rect">
            <a:avLst/>
          </a:prstGeom>
          <a:noFill/>
        </p:spPr>
        <p:txBody>
          <a:bodyPr wrap="square" rtlCol="0">
            <a:spAutoFit/>
          </a:bodyPr>
          <a:lstStyle/>
          <a:p>
            <a:r>
              <a:rPr lang="en-US" altLang="zh-CN" dirty="0"/>
              <a:t>Drones</a:t>
            </a:r>
          </a:p>
          <a:p>
            <a:r>
              <a:rPr lang="zh-CN" altLang="en-US" dirty="0"/>
              <a:t>无人机</a:t>
            </a:r>
            <a:endParaRPr lang="en-US" dirty="0"/>
          </a:p>
        </p:txBody>
      </p:sp>
      <p:cxnSp>
        <p:nvCxnSpPr>
          <p:cNvPr id="45" name="直接连接符 44">
            <a:extLst>
              <a:ext uri="{FF2B5EF4-FFF2-40B4-BE49-F238E27FC236}">
                <a16:creationId xmlns:a16="http://schemas.microsoft.com/office/drawing/2014/main" id="{5B80A720-3D18-41A7-B4AC-4D2912943962}"/>
              </a:ext>
            </a:extLst>
          </p:cNvPr>
          <p:cNvCxnSpPr>
            <a:stCxn id="32" idx="2"/>
          </p:cNvCxnSpPr>
          <p:nvPr/>
        </p:nvCxnSpPr>
        <p:spPr>
          <a:xfrm flipH="1">
            <a:off x="8880231" y="3358509"/>
            <a:ext cx="163524" cy="598029"/>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2EBEC9BF-84EC-4754-B94C-8A540A215973}"/>
              </a:ext>
            </a:extLst>
          </p:cNvPr>
          <p:cNvCxnSpPr>
            <a:cxnSpLocks/>
            <a:endCxn id="32" idx="2"/>
          </p:cNvCxnSpPr>
          <p:nvPr/>
        </p:nvCxnSpPr>
        <p:spPr>
          <a:xfrm flipH="1" flipV="1">
            <a:off x="9043755" y="3358509"/>
            <a:ext cx="202223" cy="598029"/>
          </a:xfrm>
          <a:prstGeom prst="line">
            <a:avLst/>
          </a:prstGeom>
        </p:spPr>
        <p:style>
          <a:lnRef idx="1">
            <a:schemeClr val="accent1"/>
          </a:lnRef>
          <a:fillRef idx="0">
            <a:schemeClr val="accent1"/>
          </a:fillRef>
          <a:effectRef idx="0">
            <a:schemeClr val="accent1"/>
          </a:effectRef>
          <a:fontRef idx="minor">
            <a:schemeClr val="tx1"/>
          </a:fontRef>
        </p:style>
      </p:cxnSp>
      <p:sp>
        <p:nvSpPr>
          <p:cNvPr id="50" name="椭圆 49">
            <a:extLst>
              <a:ext uri="{FF2B5EF4-FFF2-40B4-BE49-F238E27FC236}">
                <a16:creationId xmlns:a16="http://schemas.microsoft.com/office/drawing/2014/main" id="{C09F8528-D5AF-401B-8DC1-D44D12A2C575}"/>
              </a:ext>
            </a:extLst>
          </p:cNvPr>
          <p:cNvSpPr/>
          <p:nvPr/>
        </p:nvSpPr>
        <p:spPr>
          <a:xfrm>
            <a:off x="8802833" y="3842238"/>
            <a:ext cx="502920" cy="51874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1" name="文本框 50">
            <a:extLst>
              <a:ext uri="{FF2B5EF4-FFF2-40B4-BE49-F238E27FC236}">
                <a16:creationId xmlns:a16="http://schemas.microsoft.com/office/drawing/2014/main" id="{0D2DA2FB-C546-4016-9A3C-26864A91BD53}"/>
              </a:ext>
            </a:extLst>
          </p:cNvPr>
          <p:cNvSpPr txBox="1"/>
          <p:nvPr/>
        </p:nvSpPr>
        <p:spPr>
          <a:xfrm>
            <a:off x="1150587" y="4607800"/>
            <a:ext cx="10648690" cy="1200329"/>
          </a:xfrm>
          <a:prstGeom prst="rect">
            <a:avLst/>
          </a:prstGeom>
          <a:noFill/>
        </p:spPr>
        <p:txBody>
          <a:bodyPr wrap="square" rtlCol="0">
            <a:spAutoFit/>
          </a:bodyPr>
          <a:lstStyle/>
          <a:p>
            <a:r>
              <a:rPr lang="en-US" altLang="zh-CN" dirty="0"/>
              <a:t>When the player moves, the surrounding game object will be automatically filled with the player as the center.</a:t>
            </a:r>
          </a:p>
          <a:p>
            <a:r>
              <a:rPr lang="zh-CN" altLang="en-US" dirty="0"/>
              <a:t>当玩家移动后，以玩家为中心将周围的游戏物体自动填补上</a:t>
            </a:r>
            <a:endParaRPr lang="en-US" altLang="zh-CN" dirty="0"/>
          </a:p>
          <a:p>
            <a:r>
              <a:rPr lang="en-US" altLang="zh-CN" dirty="0"/>
              <a:t>This is the 3D drones scheduling algorithm</a:t>
            </a:r>
          </a:p>
          <a:p>
            <a:r>
              <a:rPr lang="zh-CN" altLang="en-US" dirty="0"/>
              <a:t>这就是无人机调度算法</a:t>
            </a:r>
            <a:endParaRPr lang="en-US" dirty="0"/>
          </a:p>
        </p:txBody>
      </p:sp>
    </p:spTree>
    <p:extLst>
      <p:ext uri="{BB962C8B-B14F-4D97-AF65-F5344CB8AC3E}">
        <p14:creationId xmlns:p14="http://schemas.microsoft.com/office/powerpoint/2010/main" val="3287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 0 L -0.0405 -0.01158 C -0.06185 -0.01713 -0.08347 -0.01968 -0.10469 -0.02709 C -0.12682 -0.03473 -0.18815 -0.06389 -0.21354 -0.08218 C -0.22839 -0.09283 -0.24206 -0.10811 -0.25677 -0.11945 C -0.29219 -0.1463 -0.328 -0.17084 -0.36354 -0.1963 C -0.36914 -0.20024 -0.37435 -0.20556 -0.38021 -0.20787 L -0.3931 -0.21297 C -0.39414 -0.21343 -0.39597 -0.21412 -0.39597 -0.21412 " pathEditMode="relative" ptsTypes="AAAAAAAAAA">
                                      <p:cBhvr>
                                        <p:cTn id="6" dur="2000" fill="hold"/>
                                        <p:tgtEl>
                                          <p:spTgt spid="2"/>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 0 L 0 0 L -0.0405 -0.01158 C -0.06185 -0.01713 -0.08347 -0.01968 -0.10469 -0.02709 C -0.12682 -0.03473 -0.18815 -0.06389 -0.21354 -0.08218 C -0.22839 -0.09283 -0.24206 -0.10811 -0.25677 -0.11945 C -0.29219 -0.1463 -0.328 -0.17084 -0.36354 -0.1963 C -0.36914 -0.20024 -0.37435 -0.20556 -0.38021 -0.20787 L -0.3931 -0.21297 C -0.39414 -0.21343 -0.39597 -0.21412 -0.39597 -0.21412 " pathEditMode="relative" ptsTypes="AAAAAAAAAA">
                                      <p:cBhvr>
                                        <p:cTn id="8" dur="2000" fill="hold"/>
                                        <p:tgtEl>
                                          <p:spTgt spid="24"/>
                                        </p:tgtEl>
                                        <p:attrNameLst>
                                          <p:attrName>ppt_x</p:attrName>
                                          <p:attrName>ppt_y</p:attrName>
                                        </p:attrNameLst>
                                      </p:cBhvr>
                                    </p:animMotion>
                                  </p:childTnLst>
                                </p:cTn>
                              </p:par>
                              <p:par>
                                <p:cTn id="9" presetID="0" presetClass="path" presetSubtype="0" accel="50000" decel="50000" fill="hold" grpId="0" nodeType="withEffect">
                                  <p:stCondLst>
                                    <p:cond delay="0"/>
                                  </p:stCondLst>
                                  <p:childTnLst>
                                    <p:animMotion origin="layout" path="M 0 0 L 0 0 L -0.0405 -0.01158 C -0.06185 -0.01713 -0.08347 -0.01968 -0.10469 -0.02709 C -0.12682 -0.03473 -0.18815 -0.06389 -0.21354 -0.08218 C -0.22839 -0.09283 -0.24206 -0.10811 -0.25677 -0.11945 C -0.29219 -0.1463 -0.328 -0.17084 -0.36354 -0.1963 C -0.36914 -0.20024 -0.37435 -0.20556 -0.38021 -0.20787 L -0.3931 -0.21297 C -0.39414 -0.21343 -0.39597 -0.21412 -0.39597 -0.21412 " pathEditMode="relative" ptsTypes="AAAAAAAAAA">
                                      <p:cBhvr>
                                        <p:cTn id="10" dur="2000" fill="hold"/>
                                        <p:tgtEl>
                                          <p:spTgt spid="25"/>
                                        </p:tgtEl>
                                        <p:attrNameLst>
                                          <p:attrName>ppt_x</p:attrName>
                                          <p:attrName>ppt_y</p:attrName>
                                        </p:attrNameLst>
                                      </p:cBhvr>
                                    </p:animMotion>
                                  </p:childTnLst>
                                </p:cTn>
                              </p:par>
                              <p:par>
                                <p:cTn id="11" presetID="0" presetClass="path" presetSubtype="0" accel="50000" decel="50000" fill="hold" grpId="0" nodeType="withEffect">
                                  <p:stCondLst>
                                    <p:cond delay="0"/>
                                  </p:stCondLst>
                                  <p:childTnLst>
                                    <p:animMotion origin="layout" path="M 0 0 L 0 0 L -0.0405 -0.01158 C -0.06185 -0.01713 -0.08347 -0.01968 -0.10469 -0.02709 C -0.12682 -0.03473 -0.18815 -0.06389 -0.21354 -0.08218 C -0.22839 -0.09283 -0.24206 -0.10811 -0.25677 -0.11945 C -0.29219 -0.1463 -0.328 -0.17084 -0.36354 -0.1963 C -0.36914 -0.20024 -0.37435 -0.20556 -0.38021 -0.20787 L -0.3931 -0.21297 C -0.39414 -0.21343 -0.39597 -0.21412 -0.39597 -0.21412 " pathEditMode="relative" ptsTypes="AAAAAAAAAA">
                                      <p:cBhvr>
                                        <p:cTn id="12" dur="2000" fill="hold"/>
                                        <p:tgtEl>
                                          <p:spTgt spid="26"/>
                                        </p:tgtEl>
                                        <p:attrNameLst>
                                          <p:attrName>ppt_x</p:attrName>
                                          <p:attrName>ppt_y</p:attrName>
                                        </p:attrNameLst>
                                      </p:cBhvr>
                                    </p:animMotion>
                                  </p:childTnLst>
                                </p:cTn>
                              </p:par>
                              <p:par>
                                <p:cTn id="13" presetID="0" presetClass="path" presetSubtype="0" accel="50000" decel="50000" fill="hold" nodeType="withEffect">
                                  <p:stCondLst>
                                    <p:cond delay="0"/>
                                  </p:stCondLst>
                                  <p:childTnLst>
                                    <p:animMotion origin="layout" path="M 0 0 L 0 0 L -0.0405 -0.01158 C -0.06185 -0.01713 -0.08347 -0.01968 -0.10469 -0.02709 C -0.12682 -0.03473 -0.18815 -0.06389 -0.21354 -0.08218 C -0.22839 -0.09283 -0.24206 -0.10811 -0.25677 -0.11945 C -0.29219 -0.1463 -0.328 -0.17084 -0.36354 -0.1963 C -0.36914 -0.20024 -0.37435 -0.20556 -0.38021 -0.20787 L -0.3931 -0.21297 C -0.39414 -0.21343 -0.39597 -0.21412 -0.39597 -0.21412 " pathEditMode="relative" ptsTypes="AAAAAAAAAA">
                                      <p:cBhvr>
                                        <p:cTn id="14" dur="2000" fill="hold"/>
                                        <p:tgtEl>
                                          <p:spTgt spid="27"/>
                                        </p:tgtEl>
                                        <p:attrNameLst>
                                          <p:attrName>ppt_x</p:attrName>
                                          <p:attrName>ppt_y</p:attrName>
                                        </p:attrNameLst>
                                      </p:cBhvr>
                                    </p:animMotion>
                                  </p:childTnLst>
                                </p:cTn>
                              </p:par>
                              <p:par>
                                <p:cTn id="15" presetID="0" presetClass="path" presetSubtype="0" accel="50000" decel="50000" fill="hold" nodeType="withEffect">
                                  <p:stCondLst>
                                    <p:cond delay="0"/>
                                  </p:stCondLst>
                                  <p:childTnLst>
                                    <p:animMotion origin="layout" path="M 0 0 L 0 0 L -0.0405 -0.01158 C -0.06185 -0.01713 -0.08347 -0.01968 -0.10469 -0.02709 C -0.12682 -0.03473 -0.18815 -0.06389 -0.21354 -0.08218 C -0.22839 -0.09283 -0.24206 -0.10811 -0.25677 -0.11945 C -0.29219 -0.1463 -0.328 -0.17084 -0.36354 -0.1963 C -0.36914 -0.20024 -0.37435 -0.20556 -0.38021 -0.20787 L -0.3931 -0.21297 C -0.39414 -0.21343 -0.39597 -0.21412 -0.39597 -0.21412 " pathEditMode="relative" ptsTypes="AAAAAAAAAA">
                                      <p:cBhvr>
                                        <p:cTn id="16" dur="2000" fill="hold"/>
                                        <p:tgtEl>
                                          <p:spTgt spid="28"/>
                                        </p:tgtEl>
                                        <p:attrNameLst>
                                          <p:attrName>ppt_x</p:attrName>
                                          <p:attrName>ppt_y</p:attrName>
                                        </p:attrNameLst>
                                      </p:cBhvr>
                                    </p:animMotion>
                                  </p:childTnLst>
                                </p:cTn>
                              </p:par>
                              <p:par>
                                <p:cTn id="17" presetID="0" presetClass="path" presetSubtype="0" accel="50000" decel="50000" fill="hold" grpId="0" nodeType="withEffect">
                                  <p:stCondLst>
                                    <p:cond delay="0"/>
                                  </p:stCondLst>
                                  <p:childTnLst>
                                    <p:animMotion origin="layout" path="M 0 0 L 0 0 L -0.0405 -0.01158 C -0.06185 -0.01713 -0.08347 -0.01968 -0.10469 -0.02709 C -0.12682 -0.03473 -0.18815 -0.06389 -0.21354 -0.08218 C -0.22839 -0.09283 -0.24206 -0.10811 -0.25677 -0.11945 C -0.29219 -0.1463 -0.328 -0.17084 -0.36354 -0.1963 C -0.36914 -0.20024 -0.37435 -0.20556 -0.38021 -0.20787 L -0.3931 -0.21297 C -0.39414 -0.21343 -0.39597 -0.21412 -0.39597 -0.21412 " pathEditMode="relative" ptsTypes="AAAAAAAAAA">
                                      <p:cBhvr>
                                        <p:cTn id="18" dur="2000" fill="hold"/>
                                        <p:tgtEl>
                                          <p:spTgt spid="32"/>
                                        </p:tgtEl>
                                        <p:attrNameLst>
                                          <p:attrName>ppt_x</p:attrName>
                                          <p:attrName>ppt_y</p:attrName>
                                        </p:attrNameLst>
                                      </p:cBhvr>
                                    </p:animMotion>
                                  </p:childTnLst>
                                </p:cTn>
                              </p:par>
                              <p:par>
                                <p:cTn id="19" presetID="0" presetClass="path" presetSubtype="0" accel="50000" decel="50000" fill="hold" grpId="0" nodeType="withEffect">
                                  <p:stCondLst>
                                    <p:cond delay="0"/>
                                  </p:stCondLst>
                                  <p:childTnLst>
                                    <p:animMotion origin="layout" path="M 0 0 L 0 0 L -0.0405 -0.01158 C -0.06185 -0.01713 -0.08347 -0.01968 -0.10469 -0.02709 C -0.12682 -0.03473 -0.18815 -0.06389 -0.21354 -0.08218 C -0.22839 -0.09283 -0.24206 -0.10811 -0.25677 -0.11945 C -0.29219 -0.1463 -0.328 -0.17084 -0.36354 -0.1963 C -0.36914 -0.20024 -0.37435 -0.20556 -0.38021 -0.20787 L -0.3931 -0.21297 C -0.39414 -0.21343 -0.39597 -0.21412 -0.39597 -0.21412 " pathEditMode="relative" ptsTypes="AAAAAAAAAA">
                                      <p:cBhvr>
                                        <p:cTn id="20" dur="2000" fill="hold"/>
                                        <p:tgtEl>
                                          <p:spTgt spid="40"/>
                                        </p:tgtEl>
                                        <p:attrNameLst>
                                          <p:attrName>ppt_x</p:attrName>
                                          <p:attrName>ppt_y</p:attrName>
                                        </p:attrNameLst>
                                      </p:cBhvr>
                                    </p:animMotion>
                                  </p:childTnLst>
                                </p:cTn>
                              </p:par>
                              <p:par>
                                <p:cTn id="21" presetID="0" presetClass="path" presetSubtype="0" accel="50000" decel="50000" fill="hold" nodeType="withEffect">
                                  <p:stCondLst>
                                    <p:cond delay="0"/>
                                  </p:stCondLst>
                                  <p:childTnLst>
                                    <p:animMotion origin="layout" path="M 0 0 L 0 0 L -0.0405 -0.01158 C -0.06185 -0.01713 -0.08347 -0.01968 -0.10469 -0.02709 C -0.12682 -0.03473 -0.18815 -0.06389 -0.21354 -0.08218 C -0.22839 -0.09283 -0.24206 -0.10811 -0.25677 -0.11945 C -0.29219 -0.1463 -0.328 -0.17084 -0.36354 -0.1963 C -0.36914 -0.20024 -0.37435 -0.20556 -0.38021 -0.20787 L -0.3931 -0.21297 C -0.39414 -0.21343 -0.39597 -0.21412 -0.39597 -0.21412 " pathEditMode="relative" ptsTypes="AAAAAAAAAA">
                                      <p:cBhvr>
                                        <p:cTn id="22" dur="2000" fill="hold"/>
                                        <p:tgtEl>
                                          <p:spTgt spid="45"/>
                                        </p:tgtEl>
                                        <p:attrNameLst>
                                          <p:attrName>ppt_x</p:attrName>
                                          <p:attrName>ppt_y</p:attrName>
                                        </p:attrNameLst>
                                      </p:cBhvr>
                                    </p:animMotion>
                                  </p:childTnLst>
                                </p:cTn>
                              </p:par>
                              <p:par>
                                <p:cTn id="23" presetID="0" presetClass="path" presetSubtype="0" accel="50000" decel="50000" fill="hold" nodeType="withEffect">
                                  <p:stCondLst>
                                    <p:cond delay="0"/>
                                  </p:stCondLst>
                                  <p:childTnLst>
                                    <p:animMotion origin="layout" path="M 0 0 L 0 0 L -0.0405 -0.01158 C -0.06185 -0.01713 -0.08347 -0.01968 -0.10469 -0.02709 C -0.12682 -0.03473 -0.18815 -0.06389 -0.21354 -0.08218 C -0.22839 -0.09283 -0.24206 -0.10811 -0.25677 -0.11945 C -0.29219 -0.1463 -0.328 -0.17084 -0.36354 -0.1963 C -0.36914 -0.20024 -0.37435 -0.20556 -0.38021 -0.20787 L -0.3931 -0.21297 C -0.39414 -0.21343 -0.39597 -0.21412 -0.39597 -0.21412 " pathEditMode="relative" ptsTypes="AAAAAAAAAA">
                                      <p:cBhvr>
                                        <p:cTn id="24" dur="2000" fill="hold"/>
                                        <p:tgtEl>
                                          <p:spTgt spid="47"/>
                                        </p:tgtEl>
                                        <p:attrNameLst>
                                          <p:attrName>ppt_x</p:attrName>
                                          <p:attrName>ppt_y</p:attrName>
                                        </p:attrNameLst>
                                      </p:cBhvr>
                                    </p:animMotion>
                                  </p:childTnLst>
                                </p:cTn>
                              </p:par>
                              <p:par>
                                <p:cTn id="25" presetID="0" presetClass="path" presetSubtype="0" accel="50000" decel="50000" fill="hold" grpId="0" nodeType="withEffect">
                                  <p:stCondLst>
                                    <p:cond delay="0"/>
                                  </p:stCondLst>
                                  <p:childTnLst>
                                    <p:animMotion origin="layout" path="M 0 0 L 0 0 L -0.0405 -0.01158 C -0.06185 -0.01713 -0.08347 -0.01968 -0.10469 -0.02709 C -0.12682 -0.03473 -0.18815 -0.06389 -0.21354 -0.08218 C -0.22839 -0.09283 -0.24206 -0.10811 -0.25677 -0.11945 C -0.29219 -0.1463 -0.328 -0.17084 -0.36354 -0.1963 C -0.36914 -0.20024 -0.37435 -0.20556 -0.38021 -0.20787 L -0.3931 -0.21297 C -0.39414 -0.21343 -0.39597 -0.21412 -0.39597 -0.21412 " pathEditMode="relative" ptsTypes="AAAAAAAAAA">
                                      <p:cBhvr>
                                        <p:cTn id="26" dur="2000" fill="hold"/>
                                        <p:tgtEl>
                                          <p:spTgt spid="5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4" grpId="0" animBg="1"/>
      <p:bldP spid="25" grpId="0" animBg="1"/>
      <p:bldP spid="26" grpId="0" animBg="1"/>
      <p:bldP spid="32" grpId="0" animBg="1"/>
      <p:bldP spid="40" grpId="0"/>
      <p:bldP spid="5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8BE1F0D1-2AEB-4A8C-92EE-F623A50D1EA6}"/>
              </a:ext>
            </a:extLst>
          </p:cNvPr>
          <p:cNvSpPr/>
          <p:nvPr/>
        </p:nvSpPr>
        <p:spPr>
          <a:xfrm>
            <a:off x="2108200" y="1122363"/>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矩形 5">
            <a:extLst>
              <a:ext uri="{FF2B5EF4-FFF2-40B4-BE49-F238E27FC236}">
                <a16:creationId xmlns:a16="http://schemas.microsoft.com/office/drawing/2014/main" id="{ADDE04F1-D3D5-4320-B432-562CD08A6B62}"/>
              </a:ext>
            </a:extLst>
          </p:cNvPr>
          <p:cNvSpPr/>
          <p:nvPr/>
        </p:nvSpPr>
        <p:spPr>
          <a:xfrm>
            <a:off x="2108200" y="192703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矩形 6">
            <a:extLst>
              <a:ext uri="{FF2B5EF4-FFF2-40B4-BE49-F238E27FC236}">
                <a16:creationId xmlns:a16="http://schemas.microsoft.com/office/drawing/2014/main" id="{D31AA7F6-06E9-4296-A4C5-60F9D1B81D60}"/>
              </a:ext>
            </a:extLst>
          </p:cNvPr>
          <p:cNvSpPr/>
          <p:nvPr/>
        </p:nvSpPr>
        <p:spPr>
          <a:xfrm>
            <a:off x="2108200" y="2731707"/>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矩形 7">
            <a:extLst>
              <a:ext uri="{FF2B5EF4-FFF2-40B4-BE49-F238E27FC236}">
                <a16:creationId xmlns:a16="http://schemas.microsoft.com/office/drawing/2014/main" id="{83D58614-5894-497C-9094-CBA7AE1E08A9}"/>
              </a:ext>
            </a:extLst>
          </p:cNvPr>
          <p:cNvSpPr/>
          <p:nvPr/>
        </p:nvSpPr>
        <p:spPr>
          <a:xfrm>
            <a:off x="2912872" y="1122363"/>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矩形 8">
            <a:extLst>
              <a:ext uri="{FF2B5EF4-FFF2-40B4-BE49-F238E27FC236}">
                <a16:creationId xmlns:a16="http://schemas.microsoft.com/office/drawing/2014/main" id="{C477C342-BF4C-4EE3-8C8F-250EDFE47AEA}"/>
              </a:ext>
            </a:extLst>
          </p:cNvPr>
          <p:cNvSpPr/>
          <p:nvPr/>
        </p:nvSpPr>
        <p:spPr>
          <a:xfrm>
            <a:off x="2912872" y="192703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9">
            <a:extLst>
              <a:ext uri="{FF2B5EF4-FFF2-40B4-BE49-F238E27FC236}">
                <a16:creationId xmlns:a16="http://schemas.microsoft.com/office/drawing/2014/main" id="{18E950DA-06FB-4889-8D16-5E727706BD6C}"/>
              </a:ext>
            </a:extLst>
          </p:cNvPr>
          <p:cNvSpPr/>
          <p:nvPr/>
        </p:nvSpPr>
        <p:spPr>
          <a:xfrm>
            <a:off x="2912872" y="2731707"/>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矩形 10">
            <a:extLst>
              <a:ext uri="{FF2B5EF4-FFF2-40B4-BE49-F238E27FC236}">
                <a16:creationId xmlns:a16="http://schemas.microsoft.com/office/drawing/2014/main" id="{0E41EDFE-CBCE-411B-8A63-2ABB9B88AD5D}"/>
              </a:ext>
            </a:extLst>
          </p:cNvPr>
          <p:cNvSpPr/>
          <p:nvPr/>
        </p:nvSpPr>
        <p:spPr>
          <a:xfrm>
            <a:off x="3717544" y="1122363"/>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矩形 11">
            <a:extLst>
              <a:ext uri="{FF2B5EF4-FFF2-40B4-BE49-F238E27FC236}">
                <a16:creationId xmlns:a16="http://schemas.microsoft.com/office/drawing/2014/main" id="{4942E4FB-9E65-4704-B960-21B6D545B247}"/>
              </a:ext>
            </a:extLst>
          </p:cNvPr>
          <p:cNvSpPr/>
          <p:nvPr/>
        </p:nvSpPr>
        <p:spPr>
          <a:xfrm>
            <a:off x="3717544" y="1927035"/>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矩形 12">
            <a:extLst>
              <a:ext uri="{FF2B5EF4-FFF2-40B4-BE49-F238E27FC236}">
                <a16:creationId xmlns:a16="http://schemas.microsoft.com/office/drawing/2014/main" id="{CAC1C415-901C-4FA6-B221-18360B593A0E}"/>
              </a:ext>
            </a:extLst>
          </p:cNvPr>
          <p:cNvSpPr/>
          <p:nvPr/>
        </p:nvSpPr>
        <p:spPr>
          <a:xfrm>
            <a:off x="3717544" y="2731707"/>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椭圆 14">
            <a:extLst>
              <a:ext uri="{FF2B5EF4-FFF2-40B4-BE49-F238E27FC236}">
                <a16:creationId xmlns:a16="http://schemas.microsoft.com/office/drawing/2014/main" id="{4DF29A05-0D03-4500-AB99-D3A3685DE1A6}"/>
              </a:ext>
            </a:extLst>
          </p:cNvPr>
          <p:cNvSpPr/>
          <p:nvPr/>
        </p:nvSpPr>
        <p:spPr>
          <a:xfrm>
            <a:off x="3114040" y="2140723"/>
            <a:ext cx="201168" cy="20116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等腰三角形 17">
            <a:extLst>
              <a:ext uri="{FF2B5EF4-FFF2-40B4-BE49-F238E27FC236}">
                <a16:creationId xmlns:a16="http://schemas.microsoft.com/office/drawing/2014/main" id="{3709547B-AC82-4C11-AA0D-6A93E3F36B77}"/>
              </a:ext>
            </a:extLst>
          </p:cNvPr>
          <p:cNvSpPr/>
          <p:nvPr/>
        </p:nvSpPr>
        <p:spPr>
          <a:xfrm>
            <a:off x="3134190" y="2283334"/>
            <a:ext cx="181018" cy="234685"/>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椭圆 18">
            <a:extLst>
              <a:ext uri="{FF2B5EF4-FFF2-40B4-BE49-F238E27FC236}">
                <a16:creationId xmlns:a16="http://schemas.microsoft.com/office/drawing/2014/main" id="{397683BE-EC11-4FA0-B406-124219C28788}"/>
              </a:ext>
            </a:extLst>
          </p:cNvPr>
          <p:cNvSpPr/>
          <p:nvPr/>
        </p:nvSpPr>
        <p:spPr>
          <a:xfrm>
            <a:off x="9116907" y="269590"/>
            <a:ext cx="201168" cy="20116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等腰三角形 19">
            <a:extLst>
              <a:ext uri="{FF2B5EF4-FFF2-40B4-BE49-F238E27FC236}">
                <a16:creationId xmlns:a16="http://schemas.microsoft.com/office/drawing/2014/main" id="{4AE4E8F8-9D5C-45C1-A832-E1560F4F4E74}"/>
              </a:ext>
            </a:extLst>
          </p:cNvPr>
          <p:cNvSpPr/>
          <p:nvPr/>
        </p:nvSpPr>
        <p:spPr>
          <a:xfrm>
            <a:off x="9137057" y="412201"/>
            <a:ext cx="181018" cy="234685"/>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文本框 20">
            <a:extLst>
              <a:ext uri="{FF2B5EF4-FFF2-40B4-BE49-F238E27FC236}">
                <a16:creationId xmlns:a16="http://schemas.microsoft.com/office/drawing/2014/main" id="{7053F16C-3A09-4D31-BDBD-0C4D6BE80770}"/>
              </a:ext>
            </a:extLst>
          </p:cNvPr>
          <p:cNvSpPr txBox="1"/>
          <p:nvPr/>
        </p:nvSpPr>
        <p:spPr>
          <a:xfrm>
            <a:off x="9762065" y="147592"/>
            <a:ext cx="2167467" cy="646331"/>
          </a:xfrm>
          <a:prstGeom prst="rect">
            <a:avLst/>
          </a:prstGeom>
          <a:noFill/>
        </p:spPr>
        <p:txBody>
          <a:bodyPr wrap="square" rtlCol="0">
            <a:spAutoFit/>
          </a:bodyPr>
          <a:lstStyle/>
          <a:p>
            <a:r>
              <a:rPr lang="en-US" dirty="0"/>
              <a:t>User</a:t>
            </a:r>
          </a:p>
          <a:p>
            <a:r>
              <a:rPr lang="zh-CN" altLang="en-US" dirty="0"/>
              <a:t>用户</a:t>
            </a:r>
            <a:endParaRPr lang="en-US" dirty="0"/>
          </a:p>
        </p:txBody>
      </p:sp>
      <p:sp>
        <p:nvSpPr>
          <p:cNvPr id="22" name="矩形 21">
            <a:extLst>
              <a:ext uri="{FF2B5EF4-FFF2-40B4-BE49-F238E27FC236}">
                <a16:creationId xmlns:a16="http://schemas.microsoft.com/office/drawing/2014/main" id="{B8BC0785-F9DA-4D72-A5A5-FA16279E3531}"/>
              </a:ext>
            </a:extLst>
          </p:cNvPr>
          <p:cNvSpPr/>
          <p:nvPr/>
        </p:nvSpPr>
        <p:spPr>
          <a:xfrm>
            <a:off x="8815155" y="927629"/>
            <a:ext cx="804672" cy="8046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22">
            <a:extLst>
              <a:ext uri="{FF2B5EF4-FFF2-40B4-BE49-F238E27FC236}">
                <a16:creationId xmlns:a16="http://schemas.microsoft.com/office/drawing/2014/main" id="{C14BB636-1140-4F07-8546-D1FCA885B46E}"/>
              </a:ext>
            </a:extLst>
          </p:cNvPr>
          <p:cNvSpPr txBox="1"/>
          <p:nvPr/>
        </p:nvSpPr>
        <p:spPr>
          <a:xfrm>
            <a:off x="9762065" y="1006799"/>
            <a:ext cx="2167467" cy="646331"/>
          </a:xfrm>
          <a:prstGeom prst="rect">
            <a:avLst/>
          </a:prstGeom>
          <a:noFill/>
        </p:spPr>
        <p:txBody>
          <a:bodyPr wrap="square" rtlCol="0">
            <a:spAutoFit/>
          </a:bodyPr>
          <a:lstStyle/>
          <a:p>
            <a:r>
              <a:rPr lang="en-US" dirty="0"/>
              <a:t>Liftable surface</a:t>
            </a:r>
          </a:p>
          <a:p>
            <a:r>
              <a:rPr lang="zh-CN" altLang="en-US" dirty="0"/>
              <a:t>可升降平面</a:t>
            </a:r>
            <a:endParaRPr lang="en-US" dirty="0"/>
          </a:p>
        </p:txBody>
      </p:sp>
      <p:sp>
        <p:nvSpPr>
          <p:cNvPr id="2" name="椭圆 1">
            <a:extLst>
              <a:ext uri="{FF2B5EF4-FFF2-40B4-BE49-F238E27FC236}">
                <a16:creationId xmlns:a16="http://schemas.microsoft.com/office/drawing/2014/main" id="{09905232-C9C0-442F-8F56-85A965983771}"/>
              </a:ext>
            </a:extLst>
          </p:cNvPr>
          <p:cNvSpPr/>
          <p:nvPr/>
        </p:nvSpPr>
        <p:spPr>
          <a:xfrm>
            <a:off x="3315208" y="629854"/>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椭圆 23">
            <a:extLst>
              <a:ext uri="{FF2B5EF4-FFF2-40B4-BE49-F238E27FC236}">
                <a16:creationId xmlns:a16="http://schemas.microsoft.com/office/drawing/2014/main" id="{EBA25898-F6B6-4B3B-B834-C436BF795194}"/>
              </a:ext>
            </a:extLst>
          </p:cNvPr>
          <p:cNvSpPr/>
          <p:nvPr/>
        </p:nvSpPr>
        <p:spPr>
          <a:xfrm>
            <a:off x="3315208" y="1627005"/>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椭圆 24">
            <a:extLst>
              <a:ext uri="{FF2B5EF4-FFF2-40B4-BE49-F238E27FC236}">
                <a16:creationId xmlns:a16="http://schemas.microsoft.com/office/drawing/2014/main" id="{45650114-075A-4F6A-9244-FCAF2D9A9154}"/>
              </a:ext>
            </a:extLst>
          </p:cNvPr>
          <p:cNvSpPr/>
          <p:nvPr/>
        </p:nvSpPr>
        <p:spPr>
          <a:xfrm>
            <a:off x="4586244" y="629854"/>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椭圆 25">
            <a:extLst>
              <a:ext uri="{FF2B5EF4-FFF2-40B4-BE49-F238E27FC236}">
                <a16:creationId xmlns:a16="http://schemas.microsoft.com/office/drawing/2014/main" id="{9F8ABEA9-369A-4A4C-AEA3-A1B50015F4DA}"/>
              </a:ext>
            </a:extLst>
          </p:cNvPr>
          <p:cNvSpPr/>
          <p:nvPr/>
        </p:nvSpPr>
        <p:spPr>
          <a:xfrm>
            <a:off x="4586244" y="1627005"/>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直接连接符 26">
            <a:extLst>
              <a:ext uri="{FF2B5EF4-FFF2-40B4-BE49-F238E27FC236}">
                <a16:creationId xmlns:a16="http://schemas.microsoft.com/office/drawing/2014/main" id="{6DA67B49-BD61-4BF8-A947-3F7190079B69}"/>
              </a:ext>
            </a:extLst>
          </p:cNvPr>
          <p:cNvCxnSpPr>
            <a:stCxn id="2" idx="5"/>
            <a:endCxn id="26" idx="2"/>
          </p:cNvCxnSpPr>
          <p:nvPr/>
        </p:nvCxnSpPr>
        <p:spPr>
          <a:xfrm>
            <a:off x="3705453" y="1020099"/>
            <a:ext cx="880791" cy="8355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74C5F357-B048-488C-BC06-BCF8EA0AC487}"/>
              </a:ext>
            </a:extLst>
          </p:cNvPr>
          <p:cNvCxnSpPr>
            <a:cxnSpLocks/>
            <a:stCxn id="25" idx="3"/>
            <a:endCxn id="24" idx="6"/>
          </p:cNvCxnSpPr>
          <p:nvPr/>
        </p:nvCxnSpPr>
        <p:spPr>
          <a:xfrm flipH="1">
            <a:off x="3772408" y="1020099"/>
            <a:ext cx="880791" cy="835506"/>
          </a:xfrm>
          <a:prstGeom prst="line">
            <a:avLst/>
          </a:prstGeom>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2E539D7B-616B-4081-BDE8-487734A2EF39}"/>
              </a:ext>
            </a:extLst>
          </p:cNvPr>
          <p:cNvSpPr/>
          <p:nvPr/>
        </p:nvSpPr>
        <p:spPr>
          <a:xfrm>
            <a:off x="3974631" y="989767"/>
            <a:ext cx="457200" cy="8658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文本框 39">
            <a:extLst>
              <a:ext uri="{FF2B5EF4-FFF2-40B4-BE49-F238E27FC236}">
                <a16:creationId xmlns:a16="http://schemas.microsoft.com/office/drawing/2014/main" id="{91157C42-8023-49CD-AD2D-4B25D66A81EF}"/>
              </a:ext>
            </a:extLst>
          </p:cNvPr>
          <p:cNvSpPr txBox="1"/>
          <p:nvPr/>
        </p:nvSpPr>
        <p:spPr>
          <a:xfrm>
            <a:off x="9883968" y="2423255"/>
            <a:ext cx="2167467" cy="646331"/>
          </a:xfrm>
          <a:prstGeom prst="rect">
            <a:avLst/>
          </a:prstGeom>
          <a:noFill/>
        </p:spPr>
        <p:txBody>
          <a:bodyPr wrap="square" rtlCol="0">
            <a:spAutoFit/>
          </a:bodyPr>
          <a:lstStyle/>
          <a:p>
            <a:r>
              <a:rPr lang="en-US" altLang="zh-CN" dirty="0"/>
              <a:t>Drones</a:t>
            </a:r>
          </a:p>
          <a:p>
            <a:r>
              <a:rPr lang="zh-CN" altLang="en-US" dirty="0"/>
              <a:t>无人机</a:t>
            </a:r>
            <a:endParaRPr lang="en-US" dirty="0"/>
          </a:p>
        </p:txBody>
      </p:sp>
      <p:cxnSp>
        <p:nvCxnSpPr>
          <p:cNvPr id="45" name="直接连接符 44">
            <a:extLst>
              <a:ext uri="{FF2B5EF4-FFF2-40B4-BE49-F238E27FC236}">
                <a16:creationId xmlns:a16="http://schemas.microsoft.com/office/drawing/2014/main" id="{5B80A720-3D18-41A7-B4AC-4D2912943962}"/>
              </a:ext>
            </a:extLst>
          </p:cNvPr>
          <p:cNvCxnSpPr>
            <a:stCxn id="32" idx="2"/>
          </p:cNvCxnSpPr>
          <p:nvPr/>
        </p:nvCxnSpPr>
        <p:spPr>
          <a:xfrm flipH="1">
            <a:off x="4039707" y="1855605"/>
            <a:ext cx="163524" cy="598029"/>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2EBEC9BF-84EC-4754-B94C-8A540A215973}"/>
              </a:ext>
            </a:extLst>
          </p:cNvPr>
          <p:cNvCxnSpPr>
            <a:cxnSpLocks/>
            <a:endCxn id="32" idx="2"/>
          </p:cNvCxnSpPr>
          <p:nvPr/>
        </p:nvCxnSpPr>
        <p:spPr>
          <a:xfrm flipH="1" flipV="1">
            <a:off x="4203231" y="1855605"/>
            <a:ext cx="202223" cy="598029"/>
          </a:xfrm>
          <a:prstGeom prst="line">
            <a:avLst/>
          </a:prstGeom>
        </p:spPr>
        <p:style>
          <a:lnRef idx="1">
            <a:schemeClr val="accent1"/>
          </a:lnRef>
          <a:fillRef idx="0">
            <a:schemeClr val="accent1"/>
          </a:fillRef>
          <a:effectRef idx="0">
            <a:schemeClr val="accent1"/>
          </a:effectRef>
          <a:fontRef idx="minor">
            <a:schemeClr val="tx1"/>
          </a:fontRef>
        </p:style>
      </p:cxnSp>
      <p:sp>
        <p:nvSpPr>
          <p:cNvPr id="50" name="椭圆 49">
            <a:extLst>
              <a:ext uri="{FF2B5EF4-FFF2-40B4-BE49-F238E27FC236}">
                <a16:creationId xmlns:a16="http://schemas.microsoft.com/office/drawing/2014/main" id="{C09F8528-D5AF-401B-8DC1-D44D12A2C575}"/>
              </a:ext>
            </a:extLst>
          </p:cNvPr>
          <p:cNvSpPr/>
          <p:nvPr/>
        </p:nvSpPr>
        <p:spPr>
          <a:xfrm>
            <a:off x="3962309" y="2339334"/>
            <a:ext cx="502920" cy="51874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1" name="文本框 50">
            <a:extLst>
              <a:ext uri="{FF2B5EF4-FFF2-40B4-BE49-F238E27FC236}">
                <a16:creationId xmlns:a16="http://schemas.microsoft.com/office/drawing/2014/main" id="{0D2DA2FB-C546-4016-9A3C-26864A91BD53}"/>
              </a:ext>
            </a:extLst>
          </p:cNvPr>
          <p:cNvSpPr txBox="1"/>
          <p:nvPr/>
        </p:nvSpPr>
        <p:spPr>
          <a:xfrm>
            <a:off x="1150587" y="4607800"/>
            <a:ext cx="10648690" cy="1200329"/>
          </a:xfrm>
          <a:prstGeom prst="rect">
            <a:avLst/>
          </a:prstGeom>
          <a:noFill/>
        </p:spPr>
        <p:txBody>
          <a:bodyPr wrap="square" rtlCol="0">
            <a:spAutoFit/>
          </a:bodyPr>
          <a:lstStyle/>
          <a:p>
            <a:r>
              <a:rPr lang="en-US" altLang="zh-CN" dirty="0"/>
              <a:t>When the player moves, the surrounding game object will be automatically filled with the player as the center.</a:t>
            </a:r>
          </a:p>
          <a:p>
            <a:r>
              <a:rPr lang="zh-CN" altLang="en-US" dirty="0"/>
              <a:t>当玩家移动后，以玩家为中心将周围的游戏物体自动填补上</a:t>
            </a:r>
            <a:endParaRPr lang="en-US" altLang="zh-CN" dirty="0"/>
          </a:p>
          <a:p>
            <a:r>
              <a:rPr lang="en-US" altLang="zh-CN" dirty="0"/>
              <a:t>This is the 3D drones scheduling algorithm</a:t>
            </a:r>
          </a:p>
          <a:p>
            <a:r>
              <a:rPr lang="zh-CN" altLang="en-US" dirty="0"/>
              <a:t>这就是无人机调度算法</a:t>
            </a:r>
            <a:endParaRPr lang="en-US" dirty="0"/>
          </a:p>
        </p:txBody>
      </p:sp>
    </p:spTree>
    <p:extLst>
      <p:ext uri="{BB962C8B-B14F-4D97-AF65-F5344CB8AC3E}">
        <p14:creationId xmlns:p14="http://schemas.microsoft.com/office/powerpoint/2010/main" val="1453464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 0 C 0.00455 0.00208 0.00911 0.0037 0.01367 0.00625 C 0.02526 0.01273 0.03619 0.02315 0.0483 0.02685 C 0.23841 0.08449 0.24244 0.08449 0.35612 0.10648 C 0.36796 0.11898 0.34518 0.09514 0.3763 0.12176 C 0.37708 0.12245 0.37721 0.12454 0.37773 0.12569 C 0.38372 0.13889 0.3901 0.15185 0.39583 0.16551 C 0.40117 0.17824 0.39544 0.17454 0.40234 0.17708 C 0.40403 0.17662 0.41315 0.17569 0.41601 0.1743 C 0.41627 0.1743 0.41653 0.17361 0.41679 0.17315 " pathEditMode="relative" ptsTypes="AAAAAAAAAAA">
                                      <p:cBhvr>
                                        <p:cTn id="6" dur="2000" fill="hold"/>
                                        <p:tgtEl>
                                          <p:spTgt spid="2"/>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 0 L 0 0 C 0.00455 0.00208 0.00911 0.0037 0.01367 0.00625 C 0.02526 0.01273 0.03619 0.02315 0.0483 0.02685 C 0.23841 0.08449 0.24244 0.08449 0.35612 0.10648 C 0.36796 0.11898 0.34518 0.09514 0.3763 0.12176 C 0.37708 0.12245 0.37721 0.12454 0.37773 0.12569 C 0.38372 0.13889 0.3901 0.15185 0.39583 0.16551 C 0.40117 0.17824 0.39544 0.17454 0.40234 0.17708 C 0.40403 0.17662 0.41315 0.17569 0.41601 0.1743 C 0.41627 0.1743 0.41653 0.17361 0.41679 0.17315 " pathEditMode="relative" ptsTypes="AAAAAAAAAAA">
                                      <p:cBhvr>
                                        <p:cTn id="8" dur="2000" fill="hold"/>
                                        <p:tgtEl>
                                          <p:spTgt spid="24"/>
                                        </p:tgtEl>
                                        <p:attrNameLst>
                                          <p:attrName>ppt_x</p:attrName>
                                          <p:attrName>ppt_y</p:attrName>
                                        </p:attrNameLst>
                                      </p:cBhvr>
                                    </p:animMotion>
                                  </p:childTnLst>
                                </p:cTn>
                              </p:par>
                              <p:par>
                                <p:cTn id="9" presetID="0" presetClass="path" presetSubtype="0" accel="50000" decel="50000" fill="hold" grpId="0" nodeType="withEffect">
                                  <p:stCondLst>
                                    <p:cond delay="0"/>
                                  </p:stCondLst>
                                  <p:childTnLst>
                                    <p:animMotion origin="layout" path="M 0 0 L 0 0 C 0.00455 0.00208 0.00911 0.0037 0.01367 0.00625 C 0.02526 0.01273 0.03619 0.02315 0.0483 0.02685 C 0.23841 0.08449 0.24244 0.08449 0.35612 0.10648 C 0.36796 0.11898 0.34518 0.09514 0.3763 0.12176 C 0.37708 0.12245 0.37721 0.12454 0.37773 0.12569 C 0.38372 0.13889 0.3901 0.15185 0.39583 0.16551 C 0.40117 0.17824 0.39544 0.17454 0.40234 0.17708 C 0.40403 0.17662 0.41315 0.17569 0.41601 0.1743 C 0.41627 0.1743 0.41653 0.17361 0.41679 0.17315 " pathEditMode="relative" ptsTypes="AAAAAAAAAAA">
                                      <p:cBhvr>
                                        <p:cTn id="10" dur="2000" fill="hold"/>
                                        <p:tgtEl>
                                          <p:spTgt spid="25"/>
                                        </p:tgtEl>
                                        <p:attrNameLst>
                                          <p:attrName>ppt_x</p:attrName>
                                          <p:attrName>ppt_y</p:attrName>
                                        </p:attrNameLst>
                                      </p:cBhvr>
                                    </p:animMotion>
                                  </p:childTnLst>
                                </p:cTn>
                              </p:par>
                              <p:par>
                                <p:cTn id="11" presetID="0" presetClass="path" presetSubtype="0" accel="50000" decel="50000" fill="hold" grpId="0" nodeType="withEffect">
                                  <p:stCondLst>
                                    <p:cond delay="0"/>
                                  </p:stCondLst>
                                  <p:childTnLst>
                                    <p:animMotion origin="layout" path="M 0 0 L 0 0 C 0.00455 0.00208 0.00911 0.0037 0.01367 0.00625 C 0.02526 0.01273 0.03619 0.02315 0.0483 0.02685 C 0.23841 0.08449 0.24244 0.08449 0.35612 0.10648 C 0.36796 0.11898 0.34518 0.09514 0.3763 0.12176 C 0.37708 0.12245 0.37721 0.12454 0.37773 0.12569 C 0.38372 0.13889 0.3901 0.15185 0.39583 0.16551 C 0.40117 0.17824 0.39544 0.17454 0.40234 0.17708 C 0.40403 0.17662 0.41315 0.17569 0.41601 0.1743 C 0.41627 0.1743 0.41653 0.17361 0.41679 0.17315 " pathEditMode="relative" ptsTypes="AAAAAAAAAAA">
                                      <p:cBhvr>
                                        <p:cTn id="12" dur="2000" fill="hold"/>
                                        <p:tgtEl>
                                          <p:spTgt spid="26"/>
                                        </p:tgtEl>
                                        <p:attrNameLst>
                                          <p:attrName>ppt_x</p:attrName>
                                          <p:attrName>ppt_y</p:attrName>
                                        </p:attrNameLst>
                                      </p:cBhvr>
                                    </p:animMotion>
                                  </p:childTnLst>
                                </p:cTn>
                              </p:par>
                              <p:par>
                                <p:cTn id="13" presetID="0" presetClass="path" presetSubtype="0" accel="50000" decel="50000" fill="hold" nodeType="withEffect">
                                  <p:stCondLst>
                                    <p:cond delay="0"/>
                                  </p:stCondLst>
                                  <p:childTnLst>
                                    <p:animMotion origin="layout" path="M 0 0 L 0 0 C 0.00455 0.00208 0.00911 0.0037 0.01367 0.00625 C 0.02526 0.01273 0.03619 0.02315 0.0483 0.02685 C 0.23841 0.08449 0.24244 0.08449 0.35612 0.10648 C 0.36796 0.11898 0.34518 0.09514 0.3763 0.12176 C 0.37708 0.12245 0.37721 0.12454 0.37773 0.12569 C 0.38372 0.13889 0.3901 0.15185 0.39583 0.16551 C 0.40117 0.17824 0.39544 0.17454 0.40234 0.17708 C 0.40403 0.17662 0.41315 0.17569 0.41601 0.1743 C 0.41627 0.1743 0.41653 0.17361 0.41679 0.17315 " pathEditMode="relative" ptsTypes="AAAAAAAAAAA">
                                      <p:cBhvr>
                                        <p:cTn id="14" dur="2000" fill="hold"/>
                                        <p:tgtEl>
                                          <p:spTgt spid="27"/>
                                        </p:tgtEl>
                                        <p:attrNameLst>
                                          <p:attrName>ppt_x</p:attrName>
                                          <p:attrName>ppt_y</p:attrName>
                                        </p:attrNameLst>
                                      </p:cBhvr>
                                    </p:animMotion>
                                  </p:childTnLst>
                                </p:cTn>
                              </p:par>
                              <p:par>
                                <p:cTn id="15" presetID="0" presetClass="path" presetSubtype="0" accel="50000" decel="50000" fill="hold" nodeType="withEffect">
                                  <p:stCondLst>
                                    <p:cond delay="0"/>
                                  </p:stCondLst>
                                  <p:childTnLst>
                                    <p:animMotion origin="layout" path="M 0 0 L 0 0 C 0.00455 0.00208 0.00911 0.0037 0.01367 0.00625 C 0.02526 0.01273 0.03619 0.02315 0.0483 0.02685 C 0.23841 0.08449 0.24244 0.08449 0.35612 0.10648 C 0.36796 0.11898 0.34518 0.09514 0.3763 0.12176 C 0.37708 0.12245 0.37721 0.12454 0.37773 0.12569 C 0.38372 0.13889 0.3901 0.15185 0.39583 0.16551 C 0.40117 0.17824 0.39544 0.17454 0.40234 0.17708 C 0.40403 0.17662 0.41315 0.17569 0.41601 0.1743 C 0.41627 0.1743 0.41653 0.17361 0.41679 0.17315 " pathEditMode="relative" ptsTypes="AAAAAAAAAAA">
                                      <p:cBhvr>
                                        <p:cTn id="16" dur="2000" fill="hold"/>
                                        <p:tgtEl>
                                          <p:spTgt spid="28"/>
                                        </p:tgtEl>
                                        <p:attrNameLst>
                                          <p:attrName>ppt_x</p:attrName>
                                          <p:attrName>ppt_y</p:attrName>
                                        </p:attrNameLst>
                                      </p:cBhvr>
                                    </p:animMotion>
                                  </p:childTnLst>
                                </p:cTn>
                              </p:par>
                              <p:par>
                                <p:cTn id="17" presetID="0" presetClass="path" presetSubtype="0" accel="50000" decel="50000" fill="hold" grpId="0" nodeType="withEffect">
                                  <p:stCondLst>
                                    <p:cond delay="0"/>
                                  </p:stCondLst>
                                  <p:childTnLst>
                                    <p:animMotion origin="layout" path="M 0 0 L 0 0 C 0.00455 0.00208 0.00911 0.0037 0.01367 0.00625 C 0.02526 0.01273 0.03619 0.02315 0.0483 0.02685 C 0.23841 0.08449 0.24244 0.08449 0.35612 0.10648 C 0.36796 0.11898 0.34518 0.09514 0.3763 0.12176 C 0.37708 0.12245 0.37721 0.12454 0.37773 0.12569 C 0.38372 0.13889 0.3901 0.15185 0.39583 0.16551 C 0.40117 0.17824 0.39544 0.17454 0.40234 0.17708 C 0.40403 0.17662 0.41315 0.17569 0.41601 0.1743 C 0.41627 0.1743 0.41653 0.17361 0.41679 0.17315 " pathEditMode="relative" ptsTypes="AAAAAAAAAAA">
                                      <p:cBhvr>
                                        <p:cTn id="18" dur="2000" fill="hold"/>
                                        <p:tgtEl>
                                          <p:spTgt spid="32"/>
                                        </p:tgtEl>
                                        <p:attrNameLst>
                                          <p:attrName>ppt_x</p:attrName>
                                          <p:attrName>ppt_y</p:attrName>
                                        </p:attrNameLst>
                                      </p:cBhvr>
                                    </p:animMotion>
                                  </p:childTnLst>
                                </p:cTn>
                              </p:par>
                              <p:par>
                                <p:cTn id="19" presetID="0" presetClass="path" presetSubtype="0" accel="50000" decel="50000" fill="hold" nodeType="withEffect">
                                  <p:stCondLst>
                                    <p:cond delay="0"/>
                                  </p:stCondLst>
                                  <p:childTnLst>
                                    <p:animMotion origin="layout" path="M 0 0 L 0 0 C 0.00455 0.00208 0.00911 0.0037 0.01367 0.00625 C 0.02526 0.01273 0.03619 0.02315 0.0483 0.02685 C 0.23841 0.08449 0.24244 0.08449 0.35612 0.10648 C 0.36796 0.11898 0.34518 0.09514 0.3763 0.12176 C 0.37708 0.12245 0.37721 0.12454 0.37773 0.12569 C 0.38372 0.13889 0.3901 0.15185 0.39583 0.16551 C 0.40117 0.17824 0.39544 0.17454 0.40234 0.17708 C 0.40403 0.17662 0.41315 0.17569 0.41601 0.1743 C 0.41627 0.1743 0.41653 0.17361 0.41679 0.17315 " pathEditMode="relative" ptsTypes="AAAAAAAAAAA">
                                      <p:cBhvr>
                                        <p:cTn id="20" dur="2000" fill="hold"/>
                                        <p:tgtEl>
                                          <p:spTgt spid="45"/>
                                        </p:tgtEl>
                                        <p:attrNameLst>
                                          <p:attrName>ppt_x</p:attrName>
                                          <p:attrName>ppt_y</p:attrName>
                                        </p:attrNameLst>
                                      </p:cBhvr>
                                    </p:animMotion>
                                  </p:childTnLst>
                                </p:cTn>
                              </p:par>
                              <p:par>
                                <p:cTn id="21" presetID="0" presetClass="path" presetSubtype="0" accel="50000" decel="50000" fill="hold" nodeType="withEffect">
                                  <p:stCondLst>
                                    <p:cond delay="0"/>
                                  </p:stCondLst>
                                  <p:childTnLst>
                                    <p:animMotion origin="layout" path="M 0 0 L 0 0 C 0.00455 0.00208 0.00911 0.0037 0.01367 0.00625 C 0.02526 0.01273 0.03619 0.02315 0.0483 0.02685 C 0.23841 0.08449 0.24244 0.08449 0.35612 0.10648 C 0.36796 0.11898 0.34518 0.09514 0.3763 0.12176 C 0.37708 0.12245 0.37721 0.12454 0.37773 0.12569 C 0.38372 0.13889 0.3901 0.15185 0.39583 0.16551 C 0.40117 0.17824 0.39544 0.17454 0.40234 0.17708 C 0.40403 0.17662 0.41315 0.17569 0.41601 0.1743 C 0.41627 0.1743 0.41653 0.17361 0.41679 0.17315 " pathEditMode="relative" ptsTypes="AAAAAAAAAAA">
                                      <p:cBhvr>
                                        <p:cTn id="22" dur="2000" fill="hold"/>
                                        <p:tgtEl>
                                          <p:spTgt spid="4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4" grpId="0" animBg="1"/>
      <p:bldP spid="25" grpId="0" animBg="1"/>
      <p:bldP spid="26" grpId="0" animBg="1"/>
      <p:bldP spid="3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986994-51AA-4CFB-9A32-149CB7F12E77}"/>
              </a:ext>
            </a:extLst>
          </p:cNvPr>
          <p:cNvSpPr>
            <a:spLocks noGrp="1"/>
          </p:cNvSpPr>
          <p:nvPr>
            <p:ph type="title"/>
          </p:nvPr>
        </p:nvSpPr>
        <p:spPr/>
        <p:txBody>
          <a:bodyPr/>
          <a:lstStyle/>
          <a:p>
            <a:endParaRPr lang="en-US"/>
          </a:p>
        </p:txBody>
      </p:sp>
      <p:sp>
        <p:nvSpPr>
          <p:cNvPr id="3" name="内容占位符 2">
            <a:extLst>
              <a:ext uri="{FF2B5EF4-FFF2-40B4-BE49-F238E27FC236}">
                <a16:creationId xmlns:a16="http://schemas.microsoft.com/office/drawing/2014/main" id="{0CA270A1-BF2A-4232-A21A-6B00F749E8D6}"/>
              </a:ext>
            </a:extLst>
          </p:cNvPr>
          <p:cNvSpPr>
            <a:spLocks noGrp="1"/>
          </p:cNvSpPr>
          <p:nvPr>
            <p:ph idx="1"/>
          </p:nvPr>
        </p:nvSpPr>
        <p:spPr/>
        <p:txBody>
          <a:bodyPr/>
          <a:lstStyle/>
          <a:p>
            <a:r>
              <a:rPr lang="zh-CN" altLang="en-US" dirty="0"/>
              <a:t>无人机能够提供各种物件的实时摆放，比如说装备、食物、武器，机器人的摆放等等</a:t>
            </a:r>
            <a:endParaRPr lang="en-US" altLang="zh-CN" dirty="0"/>
          </a:p>
          <a:p>
            <a:r>
              <a:rPr lang="en-US" dirty="0"/>
              <a:t>Drones can provide real-time placement of various objects, such as equipment, food, weapons, robots, etc.</a:t>
            </a:r>
          </a:p>
        </p:txBody>
      </p:sp>
    </p:spTree>
    <p:extLst>
      <p:ext uri="{BB962C8B-B14F-4D97-AF65-F5344CB8AC3E}">
        <p14:creationId xmlns:p14="http://schemas.microsoft.com/office/powerpoint/2010/main" val="1730316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165E16-49C7-4813-A755-981680E53233}"/>
              </a:ext>
            </a:extLst>
          </p:cNvPr>
          <p:cNvSpPr>
            <a:spLocks noGrp="1"/>
          </p:cNvSpPr>
          <p:nvPr>
            <p:ph type="title"/>
          </p:nvPr>
        </p:nvSpPr>
        <p:spPr>
          <a:xfrm>
            <a:off x="970085" y="2290641"/>
            <a:ext cx="10515600" cy="1325563"/>
          </a:xfrm>
        </p:spPr>
        <p:txBody>
          <a:bodyPr>
            <a:normAutofit fontScale="90000"/>
          </a:bodyPr>
          <a:lstStyle/>
          <a:p>
            <a:r>
              <a:rPr lang="en-US" altLang="zh-CN" dirty="0"/>
              <a:t>The food and toilets that players see in VR glasses are real, and they can eat, drink, defecate and urinate in an immersive way.</a:t>
            </a:r>
            <a:br>
              <a:rPr lang="en-US" altLang="zh-CN" dirty="0"/>
            </a:br>
            <a:r>
              <a:rPr lang="zh-CN" altLang="en-US" dirty="0"/>
              <a:t>玩家在</a:t>
            </a:r>
            <a:r>
              <a:rPr lang="en-US" altLang="zh-CN" dirty="0"/>
              <a:t>VR</a:t>
            </a:r>
            <a:r>
              <a:rPr lang="zh-CN" altLang="en-US" dirty="0"/>
              <a:t>眼镜里看到的食物和厕所都是真实存在的，可以沉浸式吃喝拉撒</a:t>
            </a:r>
            <a:endParaRPr lang="en-US" dirty="0"/>
          </a:p>
        </p:txBody>
      </p:sp>
      <p:sp>
        <p:nvSpPr>
          <p:cNvPr id="3" name="内容占位符 2">
            <a:extLst>
              <a:ext uri="{FF2B5EF4-FFF2-40B4-BE49-F238E27FC236}">
                <a16:creationId xmlns:a16="http://schemas.microsoft.com/office/drawing/2014/main" id="{CB63C8B0-B5FD-4D8D-A2B1-FC7A759695E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58149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7AC696-93B6-455A-85E6-F7BD8A4C7E45}"/>
              </a:ext>
            </a:extLst>
          </p:cNvPr>
          <p:cNvSpPr>
            <a:spLocks noGrp="1"/>
          </p:cNvSpPr>
          <p:nvPr>
            <p:ph type="title"/>
          </p:nvPr>
        </p:nvSpPr>
        <p:spPr/>
        <p:txBody>
          <a:bodyPr/>
          <a:lstStyle/>
          <a:p>
            <a:endParaRPr lang="en-US" dirty="0"/>
          </a:p>
        </p:txBody>
      </p:sp>
      <p:sp>
        <p:nvSpPr>
          <p:cNvPr id="5" name="AutoShape 2">
            <a:extLst>
              <a:ext uri="{FF2B5EF4-FFF2-40B4-BE49-F238E27FC236}">
                <a16:creationId xmlns:a16="http://schemas.microsoft.com/office/drawing/2014/main" id="{EF8F429C-AD27-43EF-BC14-1A89EF00450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图片 6">
            <a:extLst>
              <a:ext uri="{FF2B5EF4-FFF2-40B4-BE49-F238E27FC236}">
                <a16:creationId xmlns:a16="http://schemas.microsoft.com/office/drawing/2014/main" id="{A403668C-8702-4A46-A0B6-FFA631F568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5508"/>
            <a:ext cx="1913792" cy="2870688"/>
          </a:xfrm>
          <a:prstGeom prst="rect">
            <a:avLst/>
          </a:prstGeom>
        </p:spPr>
      </p:pic>
      <p:sp>
        <p:nvSpPr>
          <p:cNvPr id="3" name="内容占位符 2">
            <a:extLst>
              <a:ext uri="{FF2B5EF4-FFF2-40B4-BE49-F238E27FC236}">
                <a16:creationId xmlns:a16="http://schemas.microsoft.com/office/drawing/2014/main" id="{41D41D5F-2DC7-4A72-B7AA-2926722BB9DC}"/>
              </a:ext>
            </a:extLst>
          </p:cNvPr>
          <p:cNvSpPr>
            <a:spLocks noGrp="1"/>
          </p:cNvSpPr>
          <p:nvPr>
            <p:ph idx="1"/>
          </p:nvPr>
        </p:nvSpPr>
        <p:spPr>
          <a:xfrm>
            <a:off x="1676400" y="2139950"/>
            <a:ext cx="10515600" cy="4351338"/>
          </a:xfrm>
        </p:spPr>
        <p:txBody>
          <a:bodyPr/>
          <a:lstStyle/>
          <a:p>
            <a:r>
              <a:rPr lang="zh-CN" altLang="en-US" dirty="0"/>
              <a:t>各种机器人能够和玩家交互、战斗，战斗机器人通过</a:t>
            </a:r>
            <a:r>
              <a:rPr lang="en-US" altLang="zh-CN" dirty="0"/>
              <a:t>WiFi7</a:t>
            </a:r>
            <a:r>
              <a:rPr lang="zh-CN" altLang="en-US" dirty="0"/>
              <a:t>或</a:t>
            </a:r>
            <a:r>
              <a:rPr lang="en-US" altLang="zh-CN" dirty="0"/>
              <a:t>6G</a:t>
            </a:r>
            <a:r>
              <a:rPr lang="zh-CN" altLang="en-US" dirty="0"/>
              <a:t>网络来控制，</a:t>
            </a:r>
            <a:r>
              <a:rPr lang="en-US" altLang="zh-CN" dirty="0"/>
              <a:t>CPU</a:t>
            </a:r>
            <a:r>
              <a:rPr lang="zh-CN" altLang="en-US" dirty="0"/>
              <a:t>和</a:t>
            </a:r>
            <a:r>
              <a:rPr lang="en-US" altLang="zh-CN" dirty="0"/>
              <a:t>GPU</a:t>
            </a:r>
            <a:r>
              <a:rPr lang="zh-CN" altLang="en-US" dirty="0"/>
              <a:t>可以不安装在机器人身体上，被玩家砍报废了也值不了多少钱，能够有效带动机器人的销量，玩家在游戏中享有真实触感和击打感受</a:t>
            </a:r>
            <a:endParaRPr lang="en-US" altLang="zh-CN" dirty="0"/>
          </a:p>
          <a:p>
            <a:r>
              <a:rPr lang="en-US" dirty="0"/>
              <a:t>Various robots can interact and fight with players. Combat robots are controlled through WiFi7 or 6G networks. The CPU and GPU do not need to be installed on the robot body. Even if they are destroyed by players, they are not worth much. This can effectively boost the sales of robots. Players can enjoy real touch and hitting feelings in the game.</a:t>
            </a:r>
          </a:p>
        </p:txBody>
      </p:sp>
    </p:spTree>
    <p:extLst>
      <p:ext uri="{BB962C8B-B14F-4D97-AF65-F5344CB8AC3E}">
        <p14:creationId xmlns:p14="http://schemas.microsoft.com/office/powerpoint/2010/main" val="3491194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3524DC-6F4E-4CEF-8A4F-A5739F9CA777}"/>
              </a:ext>
            </a:extLst>
          </p:cNvPr>
          <p:cNvSpPr>
            <a:spLocks noGrp="1"/>
          </p:cNvSpPr>
          <p:nvPr>
            <p:ph type="title"/>
          </p:nvPr>
        </p:nvSpPr>
        <p:spPr>
          <a:xfrm>
            <a:off x="-4286250" y="-2152650"/>
            <a:ext cx="10515600" cy="1325563"/>
          </a:xfrm>
        </p:spPr>
        <p:txBody>
          <a:bodyPr/>
          <a:lstStyle/>
          <a:p>
            <a:endParaRPr lang="en-US" dirty="0"/>
          </a:p>
        </p:txBody>
      </p:sp>
      <p:sp>
        <p:nvSpPr>
          <p:cNvPr id="3" name="内容占位符 2">
            <a:extLst>
              <a:ext uri="{FF2B5EF4-FFF2-40B4-BE49-F238E27FC236}">
                <a16:creationId xmlns:a16="http://schemas.microsoft.com/office/drawing/2014/main" id="{1A50BDD3-76ED-40A3-B5A4-179675F34104}"/>
              </a:ext>
            </a:extLst>
          </p:cNvPr>
          <p:cNvSpPr>
            <a:spLocks noGrp="1"/>
          </p:cNvSpPr>
          <p:nvPr>
            <p:ph idx="1"/>
          </p:nvPr>
        </p:nvSpPr>
        <p:spPr/>
        <p:txBody>
          <a:bodyPr/>
          <a:lstStyle/>
          <a:p>
            <a:r>
              <a:rPr lang="zh-CN" altLang="en-US" dirty="0"/>
              <a:t>游戏过程中有救生员时刻观察运行的情况，按下紧急制动按钮可以立刻将所有设备停止运行，救援无人机出动救人</a:t>
            </a:r>
            <a:endParaRPr lang="en-US" altLang="zh-CN" dirty="0"/>
          </a:p>
          <a:p>
            <a:r>
              <a:rPr lang="en-US" dirty="0"/>
              <a:t>During the game, there are lifeguards who are always watching the operation. Pressing the emergency brake button can immediately stop all equipment and the rescue drone will be dispatched to save people.</a:t>
            </a:r>
          </a:p>
        </p:txBody>
      </p:sp>
      <p:pic>
        <p:nvPicPr>
          <p:cNvPr id="2052" name="Picture 4" descr="Stop Button Images – Browse 345,690 Stock Photos, Vectors ...">
            <a:extLst>
              <a:ext uri="{FF2B5EF4-FFF2-40B4-BE49-F238E27FC236}">
                <a16:creationId xmlns:a16="http://schemas.microsoft.com/office/drawing/2014/main" id="{753E0A98-B676-4D2C-8122-5548400BF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194310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048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D3CBAE-C920-4431-AD6F-63CA031422A9}"/>
              </a:ext>
            </a:extLst>
          </p:cNvPr>
          <p:cNvSpPr>
            <a:spLocks noGrp="1"/>
          </p:cNvSpPr>
          <p:nvPr>
            <p:ph type="title"/>
          </p:nvPr>
        </p:nvSpPr>
        <p:spPr/>
        <p:txBody>
          <a:bodyPr/>
          <a:lstStyle/>
          <a:p>
            <a:endParaRPr lang="en-US"/>
          </a:p>
        </p:txBody>
      </p:sp>
      <p:sp>
        <p:nvSpPr>
          <p:cNvPr id="3" name="内容占位符 2">
            <a:extLst>
              <a:ext uri="{FF2B5EF4-FFF2-40B4-BE49-F238E27FC236}">
                <a16:creationId xmlns:a16="http://schemas.microsoft.com/office/drawing/2014/main" id="{4BAA74BA-9456-4CDA-A52D-89BF498DF408}"/>
              </a:ext>
            </a:extLst>
          </p:cNvPr>
          <p:cNvSpPr>
            <a:spLocks noGrp="1"/>
          </p:cNvSpPr>
          <p:nvPr>
            <p:ph idx="1"/>
          </p:nvPr>
        </p:nvSpPr>
        <p:spPr/>
        <p:txBody>
          <a:bodyPr/>
          <a:lstStyle/>
          <a:p>
            <a:r>
              <a:rPr lang="zh-CN" altLang="en-US" dirty="0"/>
              <a:t>玩家使用定制的蓝牙耳塞耳机进行降噪，据说效果很不错</a:t>
            </a:r>
            <a:endParaRPr lang="en-US" altLang="zh-CN" dirty="0"/>
          </a:p>
          <a:p>
            <a:r>
              <a:rPr lang="zh-CN" altLang="en-US" dirty="0"/>
              <a:t>为什么要降噪：因为周围都是升降移动平台和无人机调度的声音</a:t>
            </a:r>
            <a:endParaRPr lang="en-US" altLang="zh-CN" dirty="0"/>
          </a:p>
          <a:p>
            <a:r>
              <a:rPr lang="en-US" altLang="zh-CN" dirty="0"/>
              <a:t>Players use customized Bluetooth earbuds for noise cancellation, which is herd to be very effective. </a:t>
            </a:r>
          </a:p>
          <a:p>
            <a:r>
              <a:rPr lang="en-US" altLang="zh-CN" dirty="0"/>
              <a:t>Why noise reduction: Because there are sounds of lifting and moving platforms and drone movement all around</a:t>
            </a:r>
            <a:endParaRPr lang="en-US" dirty="0"/>
          </a:p>
        </p:txBody>
      </p:sp>
    </p:spTree>
    <p:extLst>
      <p:ext uri="{BB962C8B-B14F-4D97-AF65-F5344CB8AC3E}">
        <p14:creationId xmlns:p14="http://schemas.microsoft.com/office/powerpoint/2010/main" val="3387772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EF793D-B1F0-464A-B21E-6C44F7AA6BC8}"/>
              </a:ext>
            </a:extLst>
          </p:cNvPr>
          <p:cNvSpPr>
            <a:spLocks noGrp="1"/>
          </p:cNvSpPr>
          <p:nvPr>
            <p:ph type="title"/>
          </p:nvPr>
        </p:nvSpPr>
        <p:spPr>
          <a:xfrm>
            <a:off x="942975" y="3956051"/>
            <a:ext cx="10515600" cy="1325563"/>
          </a:xfrm>
        </p:spPr>
        <p:txBody>
          <a:bodyPr>
            <a:normAutofit fontScale="90000"/>
          </a:bodyPr>
          <a:lstStyle/>
          <a:p>
            <a:r>
              <a:rPr lang="zh-CN" altLang="en-US" dirty="0"/>
              <a:t>使用</a:t>
            </a:r>
            <a:r>
              <a:rPr lang="en-US" altLang="zh-CN" dirty="0"/>
              <a:t>Apple vision pro</a:t>
            </a:r>
            <a:r>
              <a:rPr lang="zh-CN" altLang="en-US" dirty="0"/>
              <a:t>来提供接近现实的画面，双</a:t>
            </a:r>
            <a:r>
              <a:rPr lang="en-US" altLang="zh-CN" dirty="0"/>
              <a:t>8K</a:t>
            </a:r>
            <a:r>
              <a:rPr lang="zh-CN" altLang="en-US" dirty="0"/>
              <a:t>显示屏幕</a:t>
            </a:r>
            <a:br>
              <a:rPr lang="en-US" altLang="zh-CN" dirty="0"/>
            </a:br>
            <a:r>
              <a:rPr lang="zh-CN" altLang="en-US" dirty="0"/>
              <a:t>两块轻量级电池背在玩家的后背上面</a:t>
            </a:r>
            <a:br>
              <a:rPr lang="en-US" altLang="zh-CN" dirty="0"/>
            </a:br>
            <a:r>
              <a:rPr lang="en-US" altLang="zh-CN" dirty="0"/>
              <a:t>Apple Vision Pro is used to provide a vision close to reality, dual 8K display screens and two lightweight batteries are carried on the player's back.</a:t>
            </a:r>
            <a:endParaRPr lang="en-US" dirty="0"/>
          </a:p>
        </p:txBody>
      </p:sp>
      <p:pic>
        <p:nvPicPr>
          <p:cNvPr id="3074" name="Picture 2" descr="Apple Vision Pro - Apple (AU)">
            <a:extLst>
              <a:ext uri="{FF2B5EF4-FFF2-40B4-BE49-F238E27FC236}">
                <a16:creationId xmlns:a16="http://schemas.microsoft.com/office/drawing/2014/main" id="{34149849-EC3F-40FC-98BF-3B28A9BF5D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4737" y="376238"/>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4" name="弧形 3">
            <a:extLst>
              <a:ext uri="{FF2B5EF4-FFF2-40B4-BE49-F238E27FC236}">
                <a16:creationId xmlns:a16="http://schemas.microsoft.com/office/drawing/2014/main" id="{FAE53932-3717-47D0-8B9E-DB7E3BAD8D2F}"/>
              </a:ext>
            </a:extLst>
          </p:cNvPr>
          <p:cNvSpPr/>
          <p:nvPr/>
        </p:nvSpPr>
        <p:spPr>
          <a:xfrm>
            <a:off x="3990973" y="1228725"/>
            <a:ext cx="2028825" cy="704850"/>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弧形 5">
            <a:extLst>
              <a:ext uri="{FF2B5EF4-FFF2-40B4-BE49-F238E27FC236}">
                <a16:creationId xmlns:a16="http://schemas.microsoft.com/office/drawing/2014/main" id="{35A5FAC6-0DAC-4A45-BDE7-4B5D6DCBE7DB}"/>
              </a:ext>
            </a:extLst>
          </p:cNvPr>
          <p:cNvSpPr/>
          <p:nvPr/>
        </p:nvSpPr>
        <p:spPr>
          <a:xfrm flipH="1">
            <a:off x="3352801" y="1252537"/>
            <a:ext cx="2143124" cy="581025"/>
          </a:xfrm>
          <a:prstGeom prst="arc">
            <a:avLst>
              <a:gd name="adj1" fmla="val 16200000"/>
              <a:gd name="adj2" fmla="val 8434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矩形 4">
            <a:extLst>
              <a:ext uri="{FF2B5EF4-FFF2-40B4-BE49-F238E27FC236}">
                <a16:creationId xmlns:a16="http://schemas.microsoft.com/office/drawing/2014/main" id="{1C35EA96-D4F9-4104-8C4A-EB8ECF7B21F4}"/>
              </a:ext>
            </a:extLst>
          </p:cNvPr>
          <p:cNvSpPr/>
          <p:nvPr/>
        </p:nvSpPr>
        <p:spPr>
          <a:xfrm>
            <a:off x="3067050" y="1543049"/>
            <a:ext cx="661986" cy="976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矩形 7">
            <a:extLst>
              <a:ext uri="{FF2B5EF4-FFF2-40B4-BE49-F238E27FC236}">
                <a16:creationId xmlns:a16="http://schemas.microsoft.com/office/drawing/2014/main" id="{E3B8694C-0E55-4B2C-95D8-8CF7447D9483}"/>
              </a:ext>
            </a:extLst>
          </p:cNvPr>
          <p:cNvSpPr/>
          <p:nvPr/>
        </p:nvSpPr>
        <p:spPr>
          <a:xfrm>
            <a:off x="5629276" y="1543049"/>
            <a:ext cx="661986" cy="976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直接箭头连接符 9">
            <a:extLst>
              <a:ext uri="{FF2B5EF4-FFF2-40B4-BE49-F238E27FC236}">
                <a16:creationId xmlns:a16="http://schemas.microsoft.com/office/drawing/2014/main" id="{F1111F33-B165-4D28-8EFE-E89845466869}"/>
              </a:ext>
            </a:extLst>
          </p:cNvPr>
          <p:cNvCxnSpPr>
            <a:cxnSpLocks/>
          </p:cNvCxnSpPr>
          <p:nvPr/>
        </p:nvCxnSpPr>
        <p:spPr>
          <a:xfrm flipH="1">
            <a:off x="6400800" y="1933575"/>
            <a:ext cx="18716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CB10E288-0E51-41C4-B767-3A1A61ABFEF9}"/>
              </a:ext>
            </a:extLst>
          </p:cNvPr>
          <p:cNvSpPr txBox="1"/>
          <p:nvPr/>
        </p:nvSpPr>
        <p:spPr>
          <a:xfrm>
            <a:off x="6019798" y="1748909"/>
            <a:ext cx="6096000" cy="369332"/>
          </a:xfrm>
          <a:prstGeom prst="rect">
            <a:avLst/>
          </a:prstGeom>
          <a:noFill/>
        </p:spPr>
        <p:txBody>
          <a:bodyPr wrap="square">
            <a:spAutoFit/>
          </a:bodyPr>
          <a:lstStyle/>
          <a:p>
            <a:pPr algn="ctr"/>
            <a:r>
              <a:rPr lang="en-US" altLang="zh-CN" sz="1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This is battery</a:t>
            </a:r>
            <a:endParaRPr lang="zh-CN" altLang="en-US" sz="1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extLst>
      <p:ext uri="{BB962C8B-B14F-4D97-AF65-F5344CB8AC3E}">
        <p14:creationId xmlns:p14="http://schemas.microsoft.com/office/powerpoint/2010/main" val="42528810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882ADC6-C90B-4759-933F-D7938ECF6818}"/>
              </a:ext>
            </a:extLst>
          </p:cNvPr>
          <p:cNvSpPr>
            <a:spLocks noGrp="1"/>
          </p:cNvSpPr>
          <p:nvPr>
            <p:ph idx="1"/>
          </p:nvPr>
        </p:nvSpPr>
        <p:spPr>
          <a:xfrm>
            <a:off x="2981325" y="422275"/>
            <a:ext cx="9210673" cy="4351338"/>
          </a:xfrm>
        </p:spPr>
        <p:txBody>
          <a:bodyPr/>
          <a:lstStyle/>
          <a:p>
            <a:r>
              <a:rPr lang="zh-CN" altLang="en-US" dirty="0"/>
              <a:t>使用优质的绳索绑在玩家身上防止意外跌落，部分游戏可以让玩家飞起来玩耍</a:t>
            </a:r>
            <a:endParaRPr lang="en-US" altLang="zh-CN" dirty="0"/>
          </a:p>
          <a:p>
            <a:r>
              <a:rPr lang="en-US" dirty="0"/>
              <a:t>Use high-quality ropes to tie the players to prevent accidental falls. Some games allow players to fly and play.</a:t>
            </a:r>
          </a:p>
        </p:txBody>
      </p:sp>
      <p:pic>
        <p:nvPicPr>
          <p:cNvPr id="4" name="Picture 2" descr="Apple Vision Pro - Apple (AU)">
            <a:extLst>
              <a:ext uri="{FF2B5EF4-FFF2-40B4-BE49-F238E27FC236}">
                <a16:creationId xmlns:a16="http://schemas.microsoft.com/office/drawing/2014/main" id="{0D8D69CF-18D3-4DD3-AB65-D7C7DA9E76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2562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平行四边形 5">
            <a:extLst>
              <a:ext uri="{FF2B5EF4-FFF2-40B4-BE49-F238E27FC236}">
                <a16:creationId xmlns:a16="http://schemas.microsoft.com/office/drawing/2014/main" id="{54CCB95A-BF7C-404D-9A92-2D110697164A}"/>
              </a:ext>
            </a:extLst>
          </p:cNvPr>
          <p:cNvSpPr/>
          <p:nvPr/>
        </p:nvSpPr>
        <p:spPr>
          <a:xfrm>
            <a:off x="933450" y="114300"/>
            <a:ext cx="1771650" cy="457200"/>
          </a:xfrm>
          <a:prstGeom prst="parallelogram">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直接连接符 7">
            <a:extLst>
              <a:ext uri="{FF2B5EF4-FFF2-40B4-BE49-F238E27FC236}">
                <a16:creationId xmlns:a16="http://schemas.microsoft.com/office/drawing/2014/main" id="{F59C0BCD-D35B-4A2E-A499-7A0659901834}"/>
              </a:ext>
            </a:extLst>
          </p:cNvPr>
          <p:cNvCxnSpPr/>
          <p:nvPr/>
        </p:nvCxnSpPr>
        <p:spPr>
          <a:xfrm>
            <a:off x="1533525" y="406400"/>
            <a:ext cx="0" cy="283845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F1C9C6A9-7123-4506-BAF4-A7EB5D7A8BBA}"/>
              </a:ext>
            </a:extLst>
          </p:cNvPr>
          <p:cNvCxnSpPr/>
          <p:nvPr/>
        </p:nvCxnSpPr>
        <p:spPr>
          <a:xfrm>
            <a:off x="1285875" y="495300"/>
            <a:ext cx="0" cy="28384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79155E73-3363-4827-A109-9610DBD32746}"/>
              </a:ext>
            </a:extLst>
          </p:cNvPr>
          <p:cNvCxnSpPr/>
          <p:nvPr/>
        </p:nvCxnSpPr>
        <p:spPr>
          <a:xfrm>
            <a:off x="2276475" y="406400"/>
            <a:ext cx="0" cy="28384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CCDDB301-41CD-4BF3-8861-CC0B0ECC8133}"/>
              </a:ext>
            </a:extLst>
          </p:cNvPr>
          <p:cNvCxnSpPr/>
          <p:nvPr/>
        </p:nvCxnSpPr>
        <p:spPr>
          <a:xfrm>
            <a:off x="2466975" y="571500"/>
            <a:ext cx="0" cy="283845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8523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C2712F-7C0F-4B50-9DDB-6AB481B85D48}"/>
              </a:ext>
            </a:extLst>
          </p:cNvPr>
          <p:cNvSpPr>
            <a:spLocks noGrp="1"/>
          </p:cNvSpPr>
          <p:nvPr>
            <p:ph type="title"/>
          </p:nvPr>
        </p:nvSpPr>
        <p:spPr/>
        <p:txBody>
          <a:bodyPr/>
          <a:lstStyle/>
          <a:p>
            <a:r>
              <a:rPr lang="en-US" dirty="0"/>
              <a:t>B</a:t>
            </a:r>
            <a:r>
              <a:rPr lang="en-US" altLang="zh-CN" dirty="0"/>
              <a:t>asic element</a:t>
            </a:r>
            <a:endParaRPr lang="en-US" dirty="0"/>
          </a:p>
        </p:txBody>
      </p:sp>
      <p:sp>
        <p:nvSpPr>
          <p:cNvPr id="3" name="内容占位符 2">
            <a:extLst>
              <a:ext uri="{FF2B5EF4-FFF2-40B4-BE49-F238E27FC236}">
                <a16:creationId xmlns:a16="http://schemas.microsoft.com/office/drawing/2014/main" id="{6E4BF424-D493-4568-909F-334C4A243585}"/>
              </a:ext>
            </a:extLst>
          </p:cNvPr>
          <p:cNvSpPr>
            <a:spLocks noGrp="1"/>
          </p:cNvSpPr>
          <p:nvPr>
            <p:ph idx="1"/>
          </p:nvPr>
        </p:nvSpPr>
        <p:spPr/>
        <p:txBody>
          <a:bodyPr/>
          <a:lstStyle/>
          <a:p>
            <a:r>
              <a:rPr lang="en-US" altLang="zh-CN" dirty="0"/>
              <a:t>Food unit </a:t>
            </a:r>
          </a:p>
          <a:p>
            <a:r>
              <a:rPr lang="en-US" dirty="0"/>
              <a:t>Climbable item unit</a:t>
            </a:r>
          </a:p>
          <a:p>
            <a:r>
              <a:rPr lang="en-US" dirty="0"/>
              <a:t>Helicopter unit</a:t>
            </a:r>
          </a:p>
          <a:p>
            <a:r>
              <a:rPr lang="en-US" dirty="0"/>
              <a:t>Drones unit</a:t>
            </a:r>
          </a:p>
          <a:p>
            <a:r>
              <a:rPr lang="en-US" dirty="0"/>
              <a:t>Toilet unit</a:t>
            </a:r>
          </a:p>
          <a:p>
            <a:r>
              <a:rPr lang="en-US" dirty="0" err="1"/>
              <a:t>Grabable</a:t>
            </a:r>
            <a:r>
              <a:rPr lang="en-US" dirty="0"/>
              <a:t> unit</a:t>
            </a:r>
            <a:r>
              <a:rPr lang="zh-CN" altLang="en-US" dirty="0"/>
              <a:t>（</a:t>
            </a:r>
            <a:r>
              <a:rPr lang="en-US" altLang="zh-CN" dirty="0"/>
              <a:t>something you can grab</a:t>
            </a:r>
            <a:r>
              <a:rPr lang="zh-CN" altLang="en-US" dirty="0"/>
              <a:t>）</a:t>
            </a:r>
            <a:endParaRPr lang="en-US" dirty="0"/>
          </a:p>
          <a:p>
            <a:r>
              <a:rPr lang="en-US" altLang="zh-CN" dirty="0"/>
              <a:t>Cell phone unit</a:t>
            </a:r>
          </a:p>
          <a:p>
            <a:r>
              <a:rPr lang="en-US" altLang="zh-CN" dirty="0"/>
              <a:t>iWatch unit</a:t>
            </a:r>
            <a:endParaRPr lang="en-US" dirty="0"/>
          </a:p>
          <a:p>
            <a:endParaRPr lang="en-US" dirty="0"/>
          </a:p>
        </p:txBody>
      </p:sp>
    </p:spTree>
    <p:extLst>
      <p:ext uri="{BB962C8B-B14F-4D97-AF65-F5344CB8AC3E}">
        <p14:creationId xmlns:p14="http://schemas.microsoft.com/office/powerpoint/2010/main" val="98664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C2712F-7C0F-4B50-9DDB-6AB481B85D48}"/>
              </a:ext>
            </a:extLst>
          </p:cNvPr>
          <p:cNvSpPr>
            <a:spLocks noGrp="1"/>
          </p:cNvSpPr>
          <p:nvPr>
            <p:ph type="title"/>
          </p:nvPr>
        </p:nvSpPr>
        <p:spPr/>
        <p:txBody>
          <a:bodyPr/>
          <a:lstStyle/>
          <a:p>
            <a:r>
              <a:rPr lang="en-US" dirty="0"/>
              <a:t>B</a:t>
            </a:r>
            <a:r>
              <a:rPr lang="en-US" altLang="zh-CN" dirty="0"/>
              <a:t>asic robots</a:t>
            </a:r>
            <a:endParaRPr lang="en-US" dirty="0"/>
          </a:p>
        </p:txBody>
      </p:sp>
      <p:sp>
        <p:nvSpPr>
          <p:cNvPr id="3" name="内容占位符 2">
            <a:extLst>
              <a:ext uri="{FF2B5EF4-FFF2-40B4-BE49-F238E27FC236}">
                <a16:creationId xmlns:a16="http://schemas.microsoft.com/office/drawing/2014/main" id="{6E4BF424-D493-4568-909F-334C4A243585}"/>
              </a:ext>
            </a:extLst>
          </p:cNvPr>
          <p:cNvSpPr>
            <a:spLocks noGrp="1"/>
          </p:cNvSpPr>
          <p:nvPr>
            <p:ph idx="1"/>
          </p:nvPr>
        </p:nvSpPr>
        <p:spPr/>
        <p:txBody>
          <a:bodyPr/>
          <a:lstStyle/>
          <a:p>
            <a:r>
              <a:rPr lang="en-US" altLang="zh-CN" dirty="0"/>
              <a:t>Combat robots</a:t>
            </a:r>
          </a:p>
          <a:p>
            <a:r>
              <a:rPr lang="en-US" altLang="zh-CN" dirty="0"/>
              <a:t>Sex </a:t>
            </a:r>
            <a:r>
              <a:rPr lang="en-US" altLang="zh-CN" dirty="0" err="1"/>
              <a:t>rebots</a:t>
            </a:r>
            <a:r>
              <a:rPr lang="en-US" altLang="zh-CN" dirty="0"/>
              <a:t> </a:t>
            </a:r>
          </a:p>
          <a:p>
            <a:r>
              <a:rPr lang="en-US" altLang="zh-CN" dirty="0"/>
              <a:t>Rescue robots</a:t>
            </a:r>
          </a:p>
          <a:p>
            <a:r>
              <a:rPr lang="en-US" altLang="zh-CN" dirty="0"/>
              <a:t>Common robots</a:t>
            </a:r>
          </a:p>
          <a:p>
            <a:r>
              <a:rPr lang="en-US" altLang="zh-CN" dirty="0"/>
              <a:t>Clean robots</a:t>
            </a:r>
            <a:endParaRPr lang="en-US" dirty="0"/>
          </a:p>
        </p:txBody>
      </p:sp>
    </p:spTree>
    <p:extLst>
      <p:ext uri="{BB962C8B-B14F-4D97-AF65-F5344CB8AC3E}">
        <p14:creationId xmlns:p14="http://schemas.microsoft.com/office/powerpoint/2010/main" val="640963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FB5702-67C7-44A7-A856-C77AF9285C75}"/>
              </a:ext>
            </a:extLst>
          </p:cNvPr>
          <p:cNvSpPr>
            <a:spLocks noGrp="1"/>
          </p:cNvSpPr>
          <p:nvPr>
            <p:ph type="title"/>
          </p:nvPr>
        </p:nvSpPr>
        <p:spPr/>
        <p:txBody>
          <a:bodyPr/>
          <a:lstStyle/>
          <a:p>
            <a:r>
              <a:rPr lang="en-US" dirty="0"/>
              <a:t>The first batch of supported games</a:t>
            </a:r>
            <a:br>
              <a:rPr lang="en-US" dirty="0"/>
            </a:br>
            <a:r>
              <a:rPr lang="zh-CN" altLang="en-US" dirty="0"/>
              <a:t>第一批支持的游戏</a:t>
            </a:r>
            <a:endParaRPr lang="en-US" dirty="0"/>
          </a:p>
        </p:txBody>
      </p:sp>
      <p:sp>
        <p:nvSpPr>
          <p:cNvPr id="3" name="内容占位符 2">
            <a:extLst>
              <a:ext uri="{FF2B5EF4-FFF2-40B4-BE49-F238E27FC236}">
                <a16:creationId xmlns:a16="http://schemas.microsoft.com/office/drawing/2014/main" id="{6D58FEBA-F9E7-4326-9202-A5C4899B1860}"/>
              </a:ext>
            </a:extLst>
          </p:cNvPr>
          <p:cNvSpPr>
            <a:spLocks noGrp="1"/>
          </p:cNvSpPr>
          <p:nvPr>
            <p:ph idx="1"/>
          </p:nvPr>
        </p:nvSpPr>
        <p:spPr/>
        <p:txBody>
          <a:bodyPr>
            <a:normAutofit fontScale="92500" lnSpcReduction="20000"/>
          </a:bodyPr>
          <a:lstStyle/>
          <a:p>
            <a:r>
              <a:rPr lang="zh-CN" altLang="en-US" dirty="0"/>
              <a:t>逃出疯人院 </a:t>
            </a:r>
            <a:endParaRPr lang="en-US" altLang="zh-CN" dirty="0"/>
          </a:p>
          <a:p>
            <a:r>
              <a:rPr lang="zh-CN" altLang="en-US" dirty="0"/>
              <a:t>古墓丽影</a:t>
            </a:r>
            <a:endParaRPr lang="en-US" altLang="zh-CN" dirty="0"/>
          </a:p>
          <a:p>
            <a:r>
              <a:rPr lang="zh-CN" altLang="en-US" dirty="0"/>
              <a:t>刺客信条</a:t>
            </a:r>
            <a:endParaRPr lang="en-US" altLang="zh-CN" dirty="0"/>
          </a:p>
          <a:p>
            <a:r>
              <a:rPr lang="zh-CN" altLang="en-US" dirty="0"/>
              <a:t>镜之边缘</a:t>
            </a:r>
            <a:endParaRPr lang="en-US" altLang="zh-CN" dirty="0"/>
          </a:p>
          <a:p>
            <a:r>
              <a:rPr lang="zh-CN" altLang="en-US" dirty="0"/>
              <a:t>堡垒之夜</a:t>
            </a:r>
            <a:endParaRPr lang="en-US" altLang="zh-CN" dirty="0"/>
          </a:p>
          <a:p>
            <a:r>
              <a:rPr lang="en-US" altLang="zh-CN"/>
              <a:t>Escape </a:t>
            </a:r>
            <a:r>
              <a:rPr lang="en-US" altLang="zh-CN" dirty="0"/>
              <a:t>from a Lunatic Asylum</a:t>
            </a:r>
          </a:p>
          <a:p>
            <a:r>
              <a:rPr lang="en-US" altLang="zh-CN" dirty="0"/>
              <a:t>Tomb Raider</a:t>
            </a:r>
          </a:p>
          <a:p>
            <a:r>
              <a:rPr lang="en-US" altLang="zh-CN" dirty="0"/>
              <a:t>Assassin's Creed</a:t>
            </a:r>
          </a:p>
          <a:p>
            <a:r>
              <a:rPr lang="en-US" altLang="zh-CN" dirty="0"/>
              <a:t>Mirror's Edge</a:t>
            </a:r>
          </a:p>
          <a:p>
            <a:r>
              <a:rPr lang="en-US" altLang="zh-CN" dirty="0"/>
              <a:t>Fortnite</a:t>
            </a:r>
          </a:p>
        </p:txBody>
      </p:sp>
    </p:spTree>
    <p:extLst>
      <p:ext uri="{BB962C8B-B14F-4D97-AF65-F5344CB8AC3E}">
        <p14:creationId xmlns:p14="http://schemas.microsoft.com/office/powerpoint/2010/main" val="358245264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836</Words>
  <Application>Microsoft Office PowerPoint</Application>
  <PresentationFormat>宽屏</PresentationFormat>
  <Paragraphs>95</Paragraphs>
  <Slides>21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21</vt:i4>
      </vt:variant>
    </vt:vector>
  </HeadingPairs>
  <TitlesOfParts>
    <vt:vector size="25" baseType="lpstr">
      <vt:lpstr>Arial</vt:lpstr>
      <vt:lpstr>Calibri</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The food and toilets that players see in VR glasses are real, and they can eat, drink, defecate and urinate in an immersive way. 玩家在VR眼镜里看到的食物和厕所都是真实存在的，可以沉浸式吃喝拉撒</vt:lpstr>
      <vt:lpstr>PowerPoint 演示文稿</vt:lpstr>
      <vt:lpstr>PowerPoint 演示文稿</vt:lpstr>
      <vt:lpstr>PowerPoint 演示文稿</vt:lpstr>
      <vt:lpstr>使用Apple vision pro来提供接近现实的画面，双8K显示屏幕 两块轻量级电池背在玩家的后背上面 Apple Vision Pro is used to provide a vision close to reality, dual 8K display screens and two lightweight batteries are carried on the player's back.</vt:lpstr>
      <vt:lpstr>PowerPoint 演示文稿</vt:lpstr>
      <vt:lpstr>Basic element</vt:lpstr>
      <vt:lpstr>Basic robots</vt:lpstr>
      <vt:lpstr>The first batch of supported games 第一批支持的游戏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佳乐 王</dc:creator>
  <cp:lastModifiedBy>佳乐 王</cp:lastModifiedBy>
  <cp:revision>12</cp:revision>
  <dcterms:created xsi:type="dcterms:W3CDTF">2025-07-10T08:31:59Z</dcterms:created>
  <dcterms:modified xsi:type="dcterms:W3CDTF">2025-07-10T09:27:48Z</dcterms:modified>
</cp:coreProperties>
</file>